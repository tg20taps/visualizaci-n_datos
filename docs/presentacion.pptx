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Claudio · 0:20
"Buenas. Matías Retamal y Claudio González. Analizamos el catálogo de StreamView: 31.991 títulos. La pregunta que fuimos a responder es si lo que el catálogo produce coincide con lo que la audiencia recibe mejor. La respuesta está en el título: no coincide. Y dónde no coincide es donde está la plata."
No leer el título. Decir la conclusión de entrada compra la atención de los diez minutos siguientes.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Claudio · 0:50
"Esto está hecho para una persona concreta: el Gerente de Contenidos. Decide adquisiciones cada pocas semanas, tiene criterio de negocio pero no es perfil técnico, y hoy decide sin una vista consolidada del desempeño del catálogo.
El propósito que nos fijamos fue que pudiera responder tres preguntas en menos de un minuto y sin ayuda técnica: qué está funcionando, dónde hay una oportunidad que hoy no ve, y qué hacer al respecto.
Por eso entregamos dos piezas y no una. El dashboard es para su exploración recurrente: le llega una propuesta, filtra por género o país y comprueba en el momento si encaja. El informe es para respaldar la decisión ante su jefatura. El dashboard responde preguntas que todavía no le hicimos; el informe defiende las respuestas que ya tenemos."
Este párrafo es IE2 y la mitad de IE3. Los dos tienen que poder decirlo sin la lámina 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Claudio · 1:15
"Antes de cualquier gráfico auditamos los datos, y eso cambió el proyecto.
El enunciado pedía relacionar duración con popularidad: la columna duration viene 100% nula en películas y constante en las 15.991 series. Pedía análisis por clasificación de edad: rating resultó ser copia exacta de vote_average. Un gráfico de evolución saldría plano por construcción, porque hay exactamente 1.000 títulos por año. Y los datos de usuarios nunca llegaron, así que no medimos retención ni engagement: usamos proxies de recepción y lo declaramos.
Preferimos entregar menos análisis y que cada uno se sostenga, antes que entregar lo que el enunciado sugería sabiendo que no se sostiene."
La lámina que convierte una limitación en un punto a favor. No se corta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Claudio · 0:45 · Si se pasan de tiempo, esta es la primera lámina que se corta.
"Para situar el tamaño: 31.991 títulos, mitad películas y mitad series. Nota media ponderada 6,71, y digo ponderada porque sin eso el ranking lo encabezan títulos con un solo voto y nota 10. ROI mediano 1,7 veces, sobre las 3.540 películas que tienen datos financieros. Y casi la mitad del catálogo es drama."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Claudio · 1:10 · No se corta nunca.
"Aquí está el hallazgo. Cada punto es un género: a la derecha los que más se producen, arriba los que mejor nota reciben.
Abajo a la derecha, terror y suspenso: 4.387 títulos distintos, un tercio del catálogo de películas, y las dos peores notas. Arriba a la izquierda, documental, musical e histórico: 1.546 títulos y 0,77 puntos más de nota.
Los cortes son las medianas del propio conjunto, no números que elegimos. Y el eje es logarítmico porque drama quintuplica a bélico: en escala lineal el cuadrante de la izquierda se aplasta contra el margen."
Señalar los dos cuadrantes con la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1:15 · No se corta nunca.
"Si nos hubiéramos quedado en la lámina anterior, la recomendación habría estado mal fundada. Cruzamos nota contra retorno y aparecieron dos cosas.
La primera: terror tiene el presupuesto mediano más bajo del catálogo, 7 millones de dólares, contra 50 de animación. Su ROI mediano es 2,03, sobre la mediana. No es un descuido: es una apuesta de costo, y la nota baja es el precio conocido de esa apuesta.
La segunda: histórico tiene la mejor nota entre las películas con datos financieros y el peor retorno, 1,16 veces. Recomendarlo sería recomendar prestigio, no un caso de negocio.
El cuadrante que sí sostiene una inversión es el de arriba a la derecha: animación, familiar, aventura y musical."
Adelantarse aquí desarma las preguntas 9 y 10 del banco antes de que las hagan.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1:10
"Este es el dato que sostiene todo lo demás. Cada punto es una película.
Entre las que la audiencia califica mal, bajo 6, 53 de cada 100 no recuperan lo que costaron. Entre las bien calificadas, sobre 7, son 21.
Y a la derecha, lo que nadie espera: el presupuesto casi no ordena el retorno. 0,07 contra 0,33 de la nota. Sin esa comparación, 'invertir en calidad' no se distingue de 'invertir más'. Con ella, la recomendación se puede defender."
Nunca decir 'correlación' sin traducirla: 'la nota ordena el retorno; el presupuesto no lo ordena'.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0:50 · Segunda lámina que se corta si falta tiempo.
"Por origen: Japón 7,21 y Corea del Sur 7,11 encabezan la recepción. Estados Unidos aporta casi la mitad de las películas con nota 6,56: de los 24 países con más de 150 títulos, 14 reciben mejor nota.
El corte por idioma ordena igual, y que dos cortes independientes den el mismo orden es lo que nos da confianza.
Cuidado con lo que esto no dice: no dice que el contenido asiático sea mejor. Dice que, entre lo que este catálogo ya tiene, recibe mejores calificaciones. Es subrepresentación relativa."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1:35 · No se corta nunca. Las tres, de memoria, con su número.
"Tres decisiones, cada una con una meta que permite comprobar en doce meses si se cumplió.
Una: reequilibrar hacia animación, familiar, aventura y musical, los únicos cuatro géneros sobre la mediana en recepción y en retorno. Hoy son el 22,4% de las películas; la meta es 30% de las nuevas adquisiciones. Y subrayo: no es dejar de producir terror. Es mover el margen de crecimiento.
Dos: abrir una línea de adquisición en Japón y Corea del Sur. Hoy son el 11,6%; la meta es 18%.
Tres: condicionar el presupuesto a la recepción esperada. Ningún proyecto del cuartil superior de presupuesto sin evidencia de recepción comparable. La meta es bajar del 36,7% al 30% las películas que no recuperan lo invertido."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Matías · 0:50 · No se corta nunca.
"Cerramos con lo que no sabemos, porque es lo más honesto que podemos decir.
Sabemos qué títulos reciben mejor nota de quienes los calificaron. No sabemos cuántas personas los vieron ni cuántas se suscribieron por ellos. Sin datos de consumo, todo lo que dijimos es sobre composición del catálogo, no sobre comportamiento de audiencia.
Con reproducciones y suscripciones se podría medir si la recepción alta se traduce en retención, que es lo que el negocio realmente quiere saber. No está en estos datos, y por eso no lo afirmamos. Gracias."
No pedir disculpas por la debilidad: enunciarla como una decisión. Es lo que IE12 premia.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548640" y="548640"/>
            <a:ext cx="566928" cy="566928"/>
          </a:xfrm>
          <a:prstGeom prst="roundRect">
            <a:avLst>
              <a:gd name="adj" fmla="val 16129"/>
            </a:avLst>
          </a:prstGeom>
          <a:solidFill>
            <a:srgbClr val="2A78D6"/>
          </a:solidFill>
          <a:ln w="12700">
            <a:solidFill>
              <a:srgbClr val="2A78D6"/>
            </a:solidFill>
            <a:prstDash val="solid"/>
          </a:ln>
        </p:spPr>
      </p:sp>
      <p:sp>
        <p:nvSpPr>
          <p:cNvPr id="3" name="Text 1"/>
          <p:cNvSpPr txBox="1"/>
          <p:nvPr/>
        </p:nvSpPr>
        <p:spPr>
          <a:xfrm>
            <a:off x="548640" y="54864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SV</a:t>
            </a:r>
            <a:endParaRPr lang="en-US" sz="1800" dirty="0"/>
          </a:p>
        </p:txBody>
      </p:sp>
      <p:sp>
        <p:nvSpPr>
          <p:cNvPr id="4" name="Text 2"/>
          <p:cNvSpPr txBox="1"/>
          <p:nvPr/>
        </p:nvSpPr>
        <p:spPr>
          <a:xfrm>
            <a:off x="1325880" y="548640"/>
            <a:ext cx="9144000" cy="566928"/>
          </a:xfrm>
          <a:prstGeom prst="rect">
            <a:avLst/>
          </a:prstGeom>
          <a:noFill/>
          <a:ln/>
        </p:spPr>
        <p:txBody>
          <a:bodyPr wrap="square" lIns="0" tIns="0" rIns="0" bIns="0" rtlCol="0" anchor="ctr"/>
          <a:lstStyle/>
          <a:p>
            <a:pPr indent="0" marL="0">
              <a:buNone/>
            </a:pPr>
            <a:r>
              <a:rPr lang="en-US" sz="1200" b="1" spc="150" kern="0" dirty="0">
                <a:solidFill>
                  <a:srgbClr val="A3A29C"/>
                </a:solidFill>
                <a:latin typeface="Arial" pitchFamily="34" charset="0"/>
                <a:ea typeface="Arial" pitchFamily="34" charset="-122"/>
                <a:cs typeface="Arial" pitchFamily="34" charset="-120"/>
              </a:rPr>
              <a:t>STREAMVIEW ANALYTICS · INFORME PARA EL GERENTE DE CONTENIDOS</a:t>
            </a:r>
            <a:endParaRPr lang="en-US" sz="1200" dirty="0"/>
          </a:p>
        </p:txBody>
      </p:sp>
      <p:sp>
        <p:nvSpPr>
          <p:cNvPr id="5" name="Text 3"/>
          <p:cNvSpPr txBox="1"/>
          <p:nvPr/>
        </p:nvSpPr>
        <p:spPr>
          <a:xfrm>
            <a:off x="548640" y="2011680"/>
            <a:ext cx="11094415" cy="1920240"/>
          </a:xfrm>
          <a:prstGeom prst="rect">
            <a:avLst/>
          </a:prstGeom>
          <a:noFill/>
          <a:ln/>
        </p:spPr>
        <p:txBody>
          <a:bodyPr wrap="square" lIns="0" tIns="0" rIns="0" bIns="0" rtlCol="0" anchor="t"/>
          <a:lstStyle/>
          <a:p>
            <a:pPr indent="0" marL="0">
              <a:lnSpc>
                <a:spcPct val="105000"/>
              </a:lnSpc>
              <a:buNone/>
            </a:pPr>
            <a:r>
              <a:rPr lang="en-US" sz="5400" b="1" dirty="0">
                <a:solidFill>
                  <a:srgbClr val="FFFFFF"/>
                </a:solidFill>
                <a:latin typeface="Arial" pitchFamily="34" charset="0"/>
                <a:ea typeface="Arial" pitchFamily="34" charset="-122"/>
                <a:cs typeface="Arial" pitchFamily="34" charset="-120"/>
              </a:rPr>
              <a:t>El catálogo produce</a:t>
            </a:r>
            <a:endParaRPr lang="en-US" sz="5400" dirty="0"/>
          </a:p>
          <a:p>
            <a:pPr indent="0" marL="0">
              <a:lnSpc>
                <a:spcPct val="105000"/>
              </a:lnSpc>
              <a:buNone/>
            </a:pPr>
            <a:r>
              <a:rPr lang="en-US" sz="5400" b="1" dirty="0">
                <a:solidFill>
                  <a:srgbClr val="9EC5F4"/>
                </a:solidFill>
                <a:latin typeface="Arial" pitchFamily="34" charset="0"/>
                <a:ea typeface="Arial" pitchFamily="34" charset="-122"/>
                <a:cs typeface="Arial" pitchFamily="34" charset="-120"/>
              </a:rPr>
              <a:t>lo que menos se valora</a:t>
            </a:r>
            <a:endParaRPr lang="en-US" sz="5400" dirty="0"/>
          </a:p>
        </p:txBody>
      </p:sp>
      <p:sp>
        <p:nvSpPr>
          <p:cNvPr id="6" name="Text 4"/>
          <p:cNvSpPr txBox="1"/>
          <p:nvPr/>
        </p:nvSpPr>
        <p:spPr>
          <a:xfrm>
            <a:off x="548640" y="4069080"/>
            <a:ext cx="8778240" cy="914400"/>
          </a:xfrm>
          <a:prstGeom prst="rect">
            <a:avLst/>
          </a:prstGeom>
          <a:noFill/>
          <a:ln/>
        </p:spPr>
        <p:txBody>
          <a:bodyPr wrap="square" lIns="0" tIns="0" rIns="0" bIns="0" rtlCol="0" anchor="t"/>
          <a:lstStyle/>
          <a:p>
            <a:pPr indent="0" marL="0">
              <a:lnSpc>
                <a:spcPct val="115000"/>
              </a:lnSpc>
              <a:buNone/>
            </a:pPr>
            <a:r>
              <a:rPr lang="en-US" sz="1800" dirty="0">
                <a:solidFill>
                  <a:srgbClr val="D6D5CF"/>
                </a:solidFill>
                <a:latin typeface="Arial" pitchFamily="34" charset="0"/>
                <a:ea typeface="Arial" pitchFamily="34" charset="-122"/>
                <a:cs typeface="Arial" pitchFamily="34" charset="-120"/>
              </a:rPr>
              <a:t>Diagnóstico de 31.991 títulos para decidir qué adquirir, producir y promocionar: qué está funcionando, dónde hay una oportunidad que hoy no se ve y qué hacer al respecto.</a:t>
            </a:r>
            <a:endParaRPr lang="en-US" sz="1800" dirty="0"/>
          </a:p>
        </p:txBody>
      </p:sp>
      <p:sp>
        <p:nvSpPr>
          <p:cNvPr id="7" name="Text 5"/>
          <p:cNvSpPr txBox="1"/>
          <p:nvPr/>
        </p:nvSpPr>
        <p:spPr>
          <a:xfrm>
            <a:off x="548640" y="5486400"/>
            <a:ext cx="7315200" cy="685800"/>
          </a:xfrm>
          <a:prstGeom prst="rect">
            <a:avLst/>
          </a:prstGeom>
          <a:noFill/>
          <a:ln/>
        </p:spPr>
        <p:txBody>
          <a:bodyPr wrap="square" lIns="0" tIns="0" rIns="0" bIns="0" rtlCol="0" anchor="ctr"/>
          <a:lstStyle/>
          <a:p>
            <a:pPr indent="0" marL="0">
              <a:lnSpc>
                <a:spcPct val="130000"/>
              </a:lnSpc>
              <a:buNone/>
            </a:pPr>
            <a:r>
              <a:rPr lang="en-US" sz="1400" b="1" dirty="0">
                <a:solidFill>
                  <a:srgbClr val="FFFFFF"/>
                </a:solidFill>
                <a:latin typeface="Arial" pitchFamily="34" charset="0"/>
                <a:ea typeface="Arial" pitchFamily="34" charset="-122"/>
                <a:cs typeface="Arial" pitchFamily="34" charset="-120"/>
              </a:rPr>
              <a:t>Matías Retamal · Claudio González</a:t>
            </a:r>
            <a:endParaRPr lang="en-US" sz="1400" dirty="0"/>
          </a:p>
          <a:p>
            <a:pPr indent="0" marL="0">
              <a:lnSpc>
                <a:spcPct val="130000"/>
              </a:lnSpc>
              <a:buNone/>
            </a:pPr>
            <a:r>
              <a:rPr lang="en-US" sz="1400" dirty="0">
                <a:solidFill>
                  <a:srgbClr val="A3A29C"/>
                </a:solidFill>
                <a:latin typeface="Arial" pitchFamily="34" charset="0"/>
                <a:ea typeface="Arial" pitchFamily="34" charset="-122"/>
                <a:cs typeface="Arial" pitchFamily="34" charset="-120"/>
              </a:rPr>
              <a:t>ADY1104 Visualización de Datos · Duoc UC</a:t>
            </a:r>
            <a:endParaRPr lang="en-US" sz="1400" dirty="0"/>
          </a:p>
        </p:txBody>
      </p:sp>
      <p:sp>
        <p:nvSpPr>
          <p:cNvPr id="8" name="Text 6"/>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A3A29C"/>
                </a:solidFill>
                <a:latin typeface="Arial" pitchFamily="34" charset="0"/>
                <a:ea typeface="Arial" pitchFamily="34" charset="-122"/>
                <a:cs typeface="Arial" pitchFamily="34" charset="-120"/>
              </a:rPr>
              <a:t>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150" kern="0" dirty="0">
                <a:solidFill>
                  <a:srgbClr val="2A78D6"/>
                </a:solidFill>
                <a:latin typeface="Arial" pitchFamily="34" charset="0"/>
                <a:ea typeface="Arial" pitchFamily="34" charset="-122"/>
                <a:cs typeface="Arial" pitchFamily="34" charset="-120"/>
              </a:rPr>
              <a:t>AUDIENCIA Y PROPÓSITO</a:t>
            </a:r>
            <a:endParaRPr lang="en-US" sz="1100" dirty="0"/>
          </a:p>
        </p:txBody>
      </p:sp>
      <p:sp>
        <p:nvSpPr>
          <p:cNvPr id="3" name="Text 1"/>
          <p:cNvSpPr txBox="1"/>
          <p:nvPr/>
        </p:nvSpPr>
        <p:spPr>
          <a:xfrm>
            <a:off x="548640" y="868680"/>
            <a:ext cx="11094415" cy="1188720"/>
          </a:xfrm>
          <a:prstGeom prst="rect">
            <a:avLst/>
          </a:prstGeom>
          <a:noFill/>
          <a:ln/>
        </p:spPr>
        <p:txBody>
          <a:bodyPr wrap="square" lIns="0" tIns="0" rIns="0" bIns="0" rtlCol="0" anchor="t"/>
          <a:lstStyle/>
          <a:p>
            <a:pPr indent="0" marL="0">
              <a:lnSpc>
                <a:spcPct val="105000"/>
              </a:lnSpc>
              <a:buNone/>
            </a:pPr>
            <a:r>
              <a:rPr lang="en-US" sz="3200" b="1" dirty="0">
                <a:solidFill>
                  <a:srgbClr val="0B0B0B"/>
                </a:solidFill>
                <a:latin typeface="Arial" pitchFamily="34" charset="0"/>
                <a:ea typeface="Arial" pitchFamily="34" charset="-122"/>
                <a:cs typeface="Arial" pitchFamily="34" charset="-120"/>
              </a:rPr>
              <a:t>Que el Gerente de Contenidos responda tres preguntas</a:t>
            </a:r>
            <a:endParaRPr lang="en-US" sz="3200" dirty="0"/>
          </a:p>
          <a:p>
            <a:pPr indent="0" marL="0">
              <a:lnSpc>
                <a:spcPct val="105000"/>
              </a:lnSpc>
              <a:buNone/>
            </a:pPr>
            <a:r>
              <a:rPr lang="en-US" sz="3200" b="1" dirty="0">
                <a:solidFill>
                  <a:srgbClr val="2A78D6"/>
                </a:solidFill>
                <a:latin typeface="Arial" pitchFamily="34" charset="0"/>
                <a:ea typeface="Arial" pitchFamily="34" charset="-122"/>
                <a:cs typeface="Arial" pitchFamily="34" charset="-120"/>
              </a:rPr>
              <a:t>en menos de un minuto y sin ayuda técnica</a:t>
            </a:r>
            <a:endParaRPr lang="en-US" sz="3200" dirty="0"/>
          </a:p>
        </p:txBody>
      </p:sp>
      <p:sp>
        <p:nvSpPr>
          <p:cNvPr id="4" name="Shape 2"/>
          <p:cNvSpPr/>
          <p:nvPr/>
        </p:nvSpPr>
        <p:spPr>
          <a:xfrm>
            <a:off x="548640" y="2331720"/>
            <a:ext cx="3484778" cy="2240280"/>
          </a:xfrm>
          <a:prstGeom prst="roundRect">
            <a:avLst>
              <a:gd name="adj" fmla="val 3265"/>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5" name="Shape 3"/>
          <p:cNvSpPr/>
          <p:nvPr/>
        </p:nvSpPr>
        <p:spPr>
          <a:xfrm>
            <a:off x="868680" y="2606040"/>
            <a:ext cx="566928" cy="566928"/>
          </a:xfrm>
          <a:prstGeom prst="ellipse">
            <a:avLst/>
          </a:prstGeom>
          <a:solidFill>
            <a:srgbClr val="2A78D6"/>
          </a:solidFill>
          <a:ln w="12700">
            <a:solidFill>
              <a:srgbClr val="2A78D6"/>
            </a:solidFill>
            <a:prstDash val="solid"/>
          </a:ln>
        </p:spPr>
      </p:sp>
      <p:sp>
        <p:nvSpPr>
          <p:cNvPr id="6" name="Text 4"/>
          <p:cNvSpPr txBox="1"/>
          <p:nvPr/>
        </p:nvSpPr>
        <p:spPr>
          <a:xfrm>
            <a:off x="868680"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868680" y="3337560"/>
            <a:ext cx="2844698" cy="1097280"/>
          </a:xfrm>
          <a:prstGeom prst="rect">
            <a:avLst/>
          </a:prstGeom>
          <a:noFill/>
          <a:ln/>
        </p:spPr>
        <p:txBody>
          <a:bodyPr wrap="square" lIns="0" tIns="0" rIns="0" bIns="0" rtlCol="0" anchor="t"/>
          <a:lstStyle/>
          <a:p>
            <a:pPr indent="0" marL="0">
              <a:buNone/>
            </a:pPr>
            <a:r>
              <a:rPr lang="en-US" sz="2000" b="1" dirty="0">
                <a:solidFill>
                  <a:srgbClr val="0B0B0B"/>
                </a:solidFill>
                <a:latin typeface="Arial" pitchFamily="34" charset="0"/>
                <a:ea typeface="Arial" pitchFamily="34" charset="-122"/>
                <a:cs typeface="Arial" pitchFamily="34" charset="-120"/>
              </a:rPr>
              <a:t>¿Qué está funcionando</a:t>
            </a:r>
            <a:pPr indent="0" marL="0">
              <a:buNone/>
            </a:pPr>
            <a:r>
              <a:rPr lang="en-US" sz="2000" dirty="0">
                <a:solidFill>
                  <a:srgbClr val="52514E"/>
                </a:solidFill>
                <a:latin typeface="Arial" pitchFamily="34" charset="0"/>
                <a:ea typeface="Arial" pitchFamily="34" charset="-122"/>
                <a:cs typeface="Arial" pitchFamily="34" charset="-120"/>
              </a:rPr>
              <a:t> hoy en el catálogo?</a:t>
            </a:r>
            <a:endParaRPr lang="en-US" sz="2000" dirty="0"/>
          </a:p>
        </p:txBody>
      </p:sp>
      <p:sp>
        <p:nvSpPr>
          <p:cNvPr id="8" name="Shape 6"/>
          <p:cNvSpPr/>
          <p:nvPr/>
        </p:nvSpPr>
        <p:spPr>
          <a:xfrm>
            <a:off x="4353458" y="2331720"/>
            <a:ext cx="3484778" cy="2240280"/>
          </a:xfrm>
          <a:prstGeom prst="roundRect">
            <a:avLst>
              <a:gd name="adj" fmla="val 3265"/>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9" name="Shape 7"/>
          <p:cNvSpPr/>
          <p:nvPr/>
        </p:nvSpPr>
        <p:spPr>
          <a:xfrm>
            <a:off x="4673498" y="2606040"/>
            <a:ext cx="566928" cy="566928"/>
          </a:xfrm>
          <a:prstGeom prst="ellipse">
            <a:avLst/>
          </a:prstGeom>
          <a:solidFill>
            <a:srgbClr val="2A78D6"/>
          </a:solidFill>
          <a:ln w="12700">
            <a:solidFill>
              <a:srgbClr val="2A78D6"/>
            </a:solidFill>
            <a:prstDash val="solid"/>
          </a:ln>
        </p:spPr>
      </p:sp>
      <p:sp>
        <p:nvSpPr>
          <p:cNvPr id="10" name="Text 8"/>
          <p:cNvSpPr txBox="1"/>
          <p:nvPr/>
        </p:nvSpPr>
        <p:spPr>
          <a:xfrm>
            <a:off x="4673498"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txBox="1"/>
          <p:nvPr/>
        </p:nvSpPr>
        <p:spPr>
          <a:xfrm>
            <a:off x="4673498" y="3337560"/>
            <a:ext cx="2844698" cy="1097280"/>
          </a:xfrm>
          <a:prstGeom prst="rect">
            <a:avLst/>
          </a:prstGeom>
          <a:noFill/>
          <a:ln/>
        </p:spPr>
        <p:txBody>
          <a:bodyPr wrap="square" lIns="0" tIns="0" rIns="0" bIns="0" rtlCol="0" anchor="t"/>
          <a:lstStyle/>
          <a:p>
            <a:pPr indent="0" marL="0">
              <a:buNone/>
            </a:pPr>
            <a:r>
              <a:rPr lang="en-US" sz="2000" b="1" dirty="0">
                <a:solidFill>
                  <a:srgbClr val="0B0B0B"/>
                </a:solidFill>
                <a:latin typeface="Arial" pitchFamily="34" charset="0"/>
                <a:ea typeface="Arial" pitchFamily="34" charset="-122"/>
                <a:cs typeface="Arial" pitchFamily="34" charset="-120"/>
              </a:rPr>
              <a:t>¿Dónde hay una oportunidad</a:t>
            </a:r>
            <a:pPr indent="0" marL="0">
              <a:buNone/>
            </a:pPr>
            <a:r>
              <a:rPr lang="en-US" sz="2000" dirty="0">
                <a:solidFill>
                  <a:srgbClr val="52514E"/>
                </a:solidFill>
                <a:latin typeface="Arial" pitchFamily="34" charset="0"/>
                <a:ea typeface="Arial" pitchFamily="34" charset="-122"/>
                <a:cs typeface="Arial" pitchFamily="34" charset="-120"/>
              </a:rPr>
              <a:t> que hoy no ve?</a:t>
            </a:r>
            <a:endParaRPr lang="en-US" sz="2000" dirty="0"/>
          </a:p>
        </p:txBody>
      </p:sp>
      <p:sp>
        <p:nvSpPr>
          <p:cNvPr id="12" name="Shape 10"/>
          <p:cNvSpPr/>
          <p:nvPr/>
        </p:nvSpPr>
        <p:spPr>
          <a:xfrm>
            <a:off x="8158277" y="2331720"/>
            <a:ext cx="3484778" cy="2240280"/>
          </a:xfrm>
          <a:prstGeom prst="roundRect">
            <a:avLst>
              <a:gd name="adj" fmla="val 3265"/>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13" name="Shape 11"/>
          <p:cNvSpPr/>
          <p:nvPr/>
        </p:nvSpPr>
        <p:spPr>
          <a:xfrm>
            <a:off x="8478317" y="2606040"/>
            <a:ext cx="566928" cy="566928"/>
          </a:xfrm>
          <a:prstGeom prst="ellipse">
            <a:avLst/>
          </a:prstGeom>
          <a:solidFill>
            <a:srgbClr val="2A78D6"/>
          </a:solidFill>
          <a:ln w="12700">
            <a:solidFill>
              <a:srgbClr val="2A78D6"/>
            </a:solidFill>
            <a:prstDash val="solid"/>
          </a:ln>
        </p:spPr>
      </p:sp>
      <p:sp>
        <p:nvSpPr>
          <p:cNvPr id="14" name="Text 12"/>
          <p:cNvSpPr txBox="1"/>
          <p:nvPr/>
        </p:nvSpPr>
        <p:spPr>
          <a:xfrm>
            <a:off x="8478317" y="2606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txBox="1"/>
          <p:nvPr/>
        </p:nvSpPr>
        <p:spPr>
          <a:xfrm>
            <a:off x="8478317" y="3337560"/>
            <a:ext cx="2844698" cy="1097280"/>
          </a:xfrm>
          <a:prstGeom prst="rect">
            <a:avLst/>
          </a:prstGeom>
          <a:noFill/>
          <a:ln/>
        </p:spPr>
        <p:txBody>
          <a:bodyPr wrap="square" lIns="0" tIns="0" rIns="0" bIns="0" rtlCol="0" anchor="t"/>
          <a:lstStyle/>
          <a:p>
            <a:pPr indent="0" marL="0">
              <a:buNone/>
            </a:pPr>
            <a:r>
              <a:rPr lang="en-US" sz="2000" b="1" dirty="0">
                <a:solidFill>
                  <a:srgbClr val="0B0B0B"/>
                </a:solidFill>
                <a:latin typeface="Arial" pitchFamily="34" charset="0"/>
                <a:ea typeface="Arial" pitchFamily="34" charset="-122"/>
                <a:cs typeface="Arial" pitchFamily="34" charset="-120"/>
              </a:rPr>
              <a:t>¿Qué se recomienda hacer</a:t>
            </a:r>
            <a:pPr indent="0" marL="0">
              <a:buNone/>
            </a:pPr>
            <a:r>
              <a:rPr lang="en-US" sz="2000" dirty="0">
                <a:solidFill>
                  <a:srgbClr val="52514E"/>
                </a:solidFill>
                <a:latin typeface="Arial" pitchFamily="34" charset="0"/>
                <a:ea typeface="Arial" pitchFamily="34" charset="-122"/>
                <a:cs typeface="Arial" pitchFamily="34" charset="-120"/>
              </a:rPr>
              <a:t> al respecto?</a:t>
            </a:r>
            <a:endParaRPr lang="en-US" sz="2000" dirty="0"/>
          </a:p>
        </p:txBody>
      </p:sp>
      <p:sp>
        <p:nvSpPr>
          <p:cNvPr id="16" name="Shape 14"/>
          <p:cNvSpPr/>
          <p:nvPr/>
        </p:nvSpPr>
        <p:spPr>
          <a:xfrm>
            <a:off x="548640" y="4937760"/>
            <a:ext cx="11094415" cy="1097280"/>
          </a:xfrm>
          <a:prstGeom prst="roundRect">
            <a:avLst>
              <a:gd name="adj" fmla="val 6667"/>
            </a:avLst>
          </a:prstGeom>
          <a:solidFill>
            <a:srgbClr val="EEF4FC"/>
          </a:solidFill>
          <a:ln w="12700">
            <a:solidFill>
              <a:srgbClr val="EEF4FC"/>
            </a:solidFill>
            <a:prstDash val="solid"/>
          </a:ln>
        </p:spPr>
      </p:sp>
      <p:sp>
        <p:nvSpPr>
          <p:cNvPr id="17" name="Text 15"/>
          <p:cNvSpPr txBox="1"/>
          <p:nvPr/>
        </p:nvSpPr>
        <p:spPr>
          <a:xfrm>
            <a:off x="914400" y="4937760"/>
            <a:ext cx="10362895" cy="1097280"/>
          </a:xfrm>
          <a:prstGeom prst="rect">
            <a:avLst/>
          </a:prstGeom>
          <a:noFill/>
          <a:ln/>
        </p:spPr>
        <p:txBody>
          <a:bodyPr wrap="square" lIns="0" tIns="0" rIns="0" bIns="0" rtlCol="0" anchor="ctr"/>
          <a:lstStyle/>
          <a:p>
            <a:pPr indent="0" marL="0">
              <a:lnSpc>
                <a:spcPct val="115000"/>
              </a:lnSpc>
              <a:buNone/>
            </a:pPr>
            <a:r>
              <a:rPr lang="en-US" sz="1600" b="1" dirty="0">
                <a:solidFill>
                  <a:srgbClr val="0B0B0B"/>
                </a:solidFill>
                <a:latin typeface="Arial" pitchFamily="34" charset="0"/>
                <a:ea typeface="Arial" pitchFamily="34" charset="-122"/>
                <a:cs typeface="Arial" pitchFamily="34" charset="-120"/>
              </a:rPr>
              <a:t>Quién es: </a:t>
            </a:r>
            <a:pPr indent="0" marL="0">
              <a:lnSpc>
                <a:spcPct val="115000"/>
              </a:lnSpc>
              <a:buNone/>
            </a:pPr>
            <a:r>
              <a:rPr lang="en-US" sz="1600" dirty="0">
                <a:solidFill>
                  <a:srgbClr val="52514E"/>
                </a:solidFill>
                <a:latin typeface="Arial" pitchFamily="34" charset="0"/>
                <a:ea typeface="Arial" pitchFamily="34" charset="-122"/>
                <a:cs typeface="Arial" pitchFamily="34" charset="-120"/>
              </a:rPr>
              <a:t>decide adquisiciones cada pocas semanas. Tiene criterio de negocio, no perfil técnico. Lo que necesita no es un dato: es una lista corta de decisiones que pueda defender ante su jefatura.</a:t>
            </a:r>
            <a:endParaRPr lang="en-US" sz="1600" dirty="0"/>
          </a:p>
        </p:txBody>
      </p:sp>
      <p:sp>
        <p:nvSpPr>
          <p:cNvPr id="18" name="Text 16"/>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6E6D68"/>
                </a:solidFill>
                <a:latin typeface="Arial" pitchFamily="34" charset="0"/>
                <a:ea typeface="Arial" pitchFamily="34" charset="-122"/>
                <a:cs typeface="Arial"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150" kern="0" dirty="0">
                <a:solidFill>
                  <a:srgbClr val="2A78D6"/>
                </a:solidFill>
                <a:latin typeface="Arial" pitchFamily="34" charset="0"/>
                <a:ea typeface="Arial" pitchFamily="34" charset="-122"/>
                <a:cs typeface="Arial" pitchFamily="34" charset="-120"/>
              </a:rPr>
              <a:t>ANTES DE CUALQUIER RESULTADO</a:t>
            </a:r>
            <a:endParaRPr lang="en-US" sz="1100" dirty="0"/>
          </a:p>
        </p:txBody>
      </p:sp>
      <p:sp>
        <p:nvSpPr>
          <p:cNvPr id="3" name="Text 1"/>
          <p:cNvSpPr txBox="1"/>
          <p:nvPr/>
        </p:nvSpPr>
        <p:spPr>
          <a:xfrm>
            <a:off x="548640" y="868680"/>
            <a:ext cx="11094415" cy="640080"/>
          </a:xfrm>
          <a:prstGeom prst="rect">
            <a:avLst/>
          </a:prstGeom>
          <a:noFill/>
          <a:ln/>
        </p:spPr>
        <p:txBody>
          <a:bodyPr wrap="square" lIns="0" tIns="0" rIns="0" bIns="0" rtlCol="0" anchor="t"/>
          <a:lstStyle/>
          <a:p>
            <a:pPr indent="0" marL="0">
              <a:lnSpc>
                <a:spcPct val="105000"/>
              </a:lnSpc>
              <a:buNone/>
            </a:pPr>
            <a:r>
              <a:rPr lang="en-US" sz="3200" b="1" dirty="0">
                <a:solidFill>
                  <a:srgbClr val="0B0B0B"/>
                </a:solidFill>
                <a:latin typeface="Arial" pitchFamily="34" charset="0"/>
                <a:ea typeface="Arial" pitchFamily="34" charset="-122"/>
                <a:cs typeface="Arial" pitchFamily="34" charset="-120"/>
              </a:rPr>
              <a:t>Auditamos los datos primero, y eso </a:t>
            </a:r>
            <a:pPr indent="0" marL="0">
              <a:lnSpc>
                <a:spcPct val="105000"/>
              </a:lnSpc>
              <a:buNone/>
            </a:pPr>
            <a:r>
              <a:rPr lang="en-US" sz="3200" b="1" dirty="0">
                <a:solidFill>
                  <a:srgbClr val="2A78D6"/>
                </a:solidFill>
                <a:latin typeface="Arial" pitchFamily="34" charset="0"/>
                <a:ea typeface="Arial" pitchFamily="34" charset="-122"/>
                <a:cs typeface="Arial" pitchFamily="34" charset="-120"/>
              </a:rPr>
              <a:t>cambió el proyecto</a:t>
            </a:r>
            <a:endParaRPr lang="en-US" sz="3200" dirty="0"/>
          </a:p>
        </p:txBody>
      </p:sp>
      <p:sp>
        <p:nvSpPr>
          <p:cNvPr id="4" name="Text 2"/>
          <p:cNvSpPr txBox="1"/>
          <p:nvPr/>
        </p:nvSpPr>
        <p:spPr>
          <a:xfrm>
            <a:off x="548640" y="1600200"/>
            <a:ext cx="11094415" cy="411480"/>
          </a:xfrm>
          <a:prstGeom prst="rect">
            <a:avLst/>
          </a:prstGeom>
          <a:noFill/>
          <a:ln/>
        </p:spPr>
        <p:txBody>
          <a:bodyPr wrap="square" lIns="0" tIns="0" rIns="0" bIns="0" rtlCol="0" anchor="ctr"/>
          <a:lstStyle/>
          <a:p>
            <a:pPr indent="0" marL="0">
              <a:buNone/>
            </a:pPr>
            <a:r>
              <a:rPr lang="en-US" sz="1700" dirty="0">
                <a:solidFill>
                  <a:srgbClr val="52514E"/>
                </a:solidFill>
                <a:latin typeface="Arial" pitchFamily="34" charset="0"/>
                <a:ea typeface="Arial" pitchFamily="34" charset="-122"/>
                <a:cs typeface="Arial" pitchFamily="34" charset="-120"/>
              </a:rPr>
              <a:t>El enunciado pedía cosas que estos datos no permiten responder. Decirlo es parte del trabajo.</a:t>
            </a:r>
            <a:endParaRPr lang="en-US" sz="1700" dirty="0"/>
          </a:p>
        </p:txBody>
      </p:sp>
      <p:sp>
        <p:nvSpPr>
          <p:cNvPr id="5" name="Shape 3"/>
          <p:cNvSpPr/>
          <p:nvPr/>
        </p:nvSpPr>
        <p:spPr>
          <a:xfrm>
            <a:off x="548640" y="2286000"/>
            <a:ext cx="5410048" cy="1783080"/>
          </a:xfrm>
          <a:prstGeom prst="roundRect">
            <a:avLst>
              <a:gd name="adj" fmla="val 4103"/>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6" name="Shape 4"/>
          <p:cNvSpPr/>
          <p:nvPr/>
        </p:nvSpPr>
        <p:spPr>
          <a:xfrm>
            <a:off x="868680" y="2606040"/>
            <a:ext cx="457200" cy="457200"/>
          </a:xfrm>
          <a:prstGeom prst="ellipse">
            <a:avLst/>
          </a:prstGeom>
          <a:solidFill>
            <a:srgbClr val="EB6834"/>
          </a:solidFill>
          <a:ln w="12700">
            <a:solidFill>
              <a:srgbClr val="EB6834"/>
            </a:solidFill>
            <a:prstDash val="solid"/>
          </a:ln>
        </p:spPr>
      </p:sp>
      <p:sp>
        <p:nvSpPr>
          <p:cNvPr id="7" name="Text 5"/>
          <p:cNvSpPr txBox="1"/>
          <p:nvPr/>
        </p:nvSpPr>
        <p:spPr>
          <a:xfrm>
            <a:off x="868680" y="2606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8" name="Text 6"/>
          <p:cNvSpPr txBox="1"/>
          <p:nvPr/>
        </p:nvSpPr>
        <p:spPr>
          <a:xfrm>
            <a:off x="1554480" y="2606040"/>
            <a:ext cx="4084168" cy="457200"/>
          </a:xfrm>
          <a:prstGeom prst="rect">
            <a:avLst/>
          </a:prstGeom>
          <a:noFill/>
          <a:ln/>
        </p:spPr>
        <p:txBody>
          <a:bodyPr wrap="square" lIns="0" tIns="0" rIns="0" bIns="0" rtlCol="0" anchor="ctr"/>
          <a:lstStyle/>
          <a:p>
            <a:pPr indent="0" marL="0">
              <a:buNone/>
            </a:pPr>
            <a:r>
              <a:rPr lang="en-US" sz="1900" b="1" dirty="0">
                <a:solidFill>
                  <a:srgbClr val="0B0B0B"/>
                </a:solidFill>
                <a:latin typeface="Arial" pitchFamily="34" charset="0"/>
                <a:ea typeface="Arial" pitchFamily="34" charset="-122"/>
                <a:cs typeface="Arial" pitchFamily="34" charset="-120"/>
              </a:rPr>
              <a:t>Duración óptima</a:t>
            </a:r>
            <a:endParaRPr lang="en-US" sz="1900" dirty="0"/>
          </a:p>
        </p:txBody>
      </p:sp>
      <p:sp>
        <p:nvSpPr>
          <p:cNvPr id="9" name="Text 7"/>
          <p:cNvSpPr txBox="1"/>
          <p:nvPr/>
        </p:nvSpPr>
        <p:spPr>
          <a:xfrm>
            <a:off x="1554480" y="3108960"/>
            <a:ext cx="4084168" cy="822960"/>
          </a:xfrm>
          <a:prstGeom prst="rect">
            <a:avLst/>
          </a:prstGeom>
          <a:noFill/>
          <a:ln/>
        </p:spPr>
        <p:txBody>
          <a:bodyPr wrap="square" lIns="0" tIns="0" rIns="0" bIns="0" rtlCol="0" anchor="t"/>
          <a:lstStyle/>
          <a:p>
            <a:pPr indent="0" marL="0">
              <a:lnSpc>
                <a:spcPct val="110000"/>
              </a:lnSpc>
              <a:buNone/>
            </a:pPr>
            <a:r>
              <a:rPr lang="en-US" sz="1500" dirty="0">
                <a:solidFill>
                  <a:srgbClr val="52514E"/>
                </a:solidFill>
                <a:latin typeface="Arial" pitchFamily="34" charset="0"/>
                <a:ea typeface="Arial" pitchFamily="34" charset="-122"/>
                <a:cs typeface="Arial" pitchFamily="34" charset="-120"/>
              </a:rPr>
              <a:t>La columna duration viene 100% nula en películas y constante en las 15.991 series.</a:t>
            </a:r>
            <a:endParaRPr lang="en-US" sz="1500" dirty="0"/>
          </a:p>
        </p:txBody>
      </p:sp>
      <p:sp>
        <p:nvSpPr>
          <p:cNvPr id="10" name="Shape 8"/>
          <p:cNvSpPr/>
          <p:nvPr/>
        </p:nvSpPr>
        <p:spPr>
          <a:xfrm>
            <a:off x="6233008" y="2286000"/>
            <a:ext cx="5410048" cy="1783080"/>
          </a:xfrm>
          <a:prstGeom prst="roundRect">
            <a:avLst>
              <a:gd name="adj" fmla="val 4103"/>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11" name="Shape 9"/>
          <p:cNvSpPr/>
          <p:nvPr/>
        </p:nvSpPr>
        <p:spPr>
          <a:xfrm>
            <a:off x="6553048" y="2606040"/>
            <a:ext cx="457200" cy="457200"/>
          </a:xfrm>
          <a:prstGeom prst="ellipse">
            <a:avLst/>
          </a:prstGeom>
          <a:solidFill>
            <a:srgbClr val="EB6834"/>
          </a:solidFill>
          <a:ln w="12700">
            <a:solidFill>
              <a:srgbClr val="EB6834"/>
            </a:solidFill>
            <a:prstDash val="solid"/>
          </a:ln>
        </p:spPr>
      </p:sp>
      <p:sp>
        <p:nvSpPr>
          <p:cNvPr id="12" name="Text 10"/>
          <p:cNvSpPr txBox="1"/>
          <p:nvPr/>
        </p:nvSpPr>
        <p:spPr>
          <a:xfrm>
            <a:off x="6553048" y="2606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3" name="Text 11"/>
          <p:cNvSpPr txBox="1"/>
          <p:nvPr/>
        </p:nvSpPr>
        <p:spPr>
          <a:xfrm>
            <a:off x="7238848" y="2606040"/>
            <a:ext cx="4084168" cy="457200"/>
          </a:xfrm>
          <a:prstGeom prst="rect">
            <a:avLst/>
          </a:prstGeom>
          <a:noFill/>
          <a:ln/>
        </p:spPr>
        <p:txBody>
          <a:bodyPr wrap="square" lIns="0" tIns="0" rIns="0" bIns="0" rtlCol="0" anchor="ctr"/>
          <a:lstStyle/>
          <a:p>
            <a:pPr indent="0" marL="0">
              <a:buNone/>
            </a:pPr>
            <a:r>
              <a:rPr lang="en-US" sz="1900" b="1" dirty="0">
                <a:solidFill>
                  <a:srgbClr val="0B0B0B"/>
                </a:solidFill>
                <a:latin typeface="Arial" pitchFamily="34" charset="0"/>
                <a:ea typeface="Arial" pitchFamily="34" charset="-122"/>
                <a:cs typeface="Arial" pitchFamily="34" charset="-120"/>
              </a:rPr>
              <a:t>Clasificación por edad</a:t>
            </a:r>
            <a:endParaRPr lang="en-US" sz="1900" dirty="0"/>
          </a:p>
        </p:txBody>
      </p:sp>
      <p:sp>
        <p:nvSpPr>
          <p:cNvPr id="14" name="Text 12"/>
          <p:cNvSpPr txBox="1"/>
          <p:nvPr/>
        </p:nvSpPr>
        <p:spPr>
          <a:xfrm>
            <a:off x="7238848" y="3108960"/>
            <a:ext cx="4084168" cy="822960"/>
          </a:xfrm>
          <a:prstGeom prst="rect">
            <a:avLst/>
          </a:prstGeom>
          <a:noFill/>
          <a:ln/>
        </p:spPr>
        <p:txBody>
          <a:bodyPr wrap="square" lIns="0" tIns="0" rIns="0" bIns="0" rtlCol="0" anchor="t"/>
          <a:lstStyle/>
          <a:p>
            <a:pPr indent="0" marL="0">
              <a:lnSpc>
                <a:spcPct val="110000"/>
              </a:lnSpc>
              <a:buNone/>
            </a:pPr>
            <a:r>
              <a:rPr lang="en-US" sz="1500" dirty="0">
                <a:solidFill>
                  <a:srgbClr val="52514E"/>
                </a:solidFill>
                <a:latin typeface="Arial" pitchFamily="34" charset="0"/>
                <a:ea typeface="Arial" pitchFamily="34" charset="-122"/>
                <a:cs typeface="Arial" pitchFamily="34" charset="-120"/>
              </a:rPr>
              <a:t>La columna rating es copia exacta de vote_average. No hay clasificación etaria en el dataset.</a:t>
            </a:r>
            <a:endParaRPr lang="en-US" sz="1500" dirty="0"/>
          </a:p>
        </p:txBody>
      </p:sp>
      <p:sp>
        <p:nvSpPr>
          <p:cNvPr id="15" name="Shape 13"/>
          <p:cNvSpPr/>
          <p:nvPr/>
        </p:nvSpPr>
        <p:spPr>
          <a:xfrm>
            <a:off x="548640" y="4343400"/>
            <a:ext cx="5410048" cy="1783080"/>
          </a:xfrm>
          <a:prstGeom prst="roundRect">
            <a:avLst>
              <a:gd name="adj" fmla="val 4103"/>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16" name="Shape 14"/>
          <p:cNvSpPr/>
          <p:nvPr/>
        </p:nvSpPr>
        <p:spPr>
          <a:xfrm>
            <a:off x="868680" y="4663440"/>
            <a:ext cx="457200" cy="457200"/>
          </a:xfrm>
          <a:prstGeom prst="ellipse">
            <a:avLst/>
          </a:prstGeom>
          <a:solidFill>
            <a:srgbClr val="EB6834"/>
          </a:solidFill>
          <a:ln w="12700">
            <a:solidFill>
              <a:srgbClr val="EB6834"/>
            </a:solidFill>
            <a:prstDash val="solid"/>
          </a:ln>
        </p:spPr>
      </p:sp>
      <p:sp>
        <p:nvSpPr>
          <p:cNvPr id="17" name="Text 15"/>
          <p:cNvSpPr txBox="1"/>
          <p:nvPr/>
        </p:nvSpPr>
        <p:spPr>
          <a:xfrm>
            <a:off x="868680" y="4663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8" name="Text 16"/>
          <p:cNvSpPr txBox="1"/>
          <p:nvPr/>
        </p:nvSpPr>
        <p:spPr>
          <a:xfrm>
            <a:off x="1554480" y="4663440"/>
            <a:ext cx="4084168" cy="457200"/>
          </a:xfrm>
          <a:prstGeom prst="rect">
            <a:avLst/>
          </a:prstGeom>
          <a:noFill/>
          <a:ln/>
        </p:spPr>
        <p:txBody>
          <a:bodyPr wrap="square" lIns="0" tIns="0" rIns="0" bIns="0" rtlCol="0" anchor="ctr"/>
          <a:lstStyle/>
          <a:p>
            <a:pPr indent="0" marL="0">
              <a:buNone/>
            </a:pPr>
            <a:r>
              <a:rPr lang="en-US" sz="1900" b="1" dirty="0">
                <a:solidFill>
                  <a:srgbClr val="0B0B0B"/>
                </a:solidFill>
                <a:latin typeface="Arial" pitchFamily="34" charset="0"/>
                <a:ea typeface="Arial" pitchFamily="34" charset="-122"/>
                <a:cs typeface="Arial" pitchFamily="34" charset="-120"/>
              </a:rPr>
              <a:t>Evolución del catálogo</a:t>
            </a:r>
            <a:endParaRPr lang="en-US" sz="1900" dirty="0"/>
          </a:p>
        </p:txBody>
      </p:sp>
      <p:sp>
        <p:nvSpPr>
          <p:cNvPr id="19" name="Text 17"/>
          <p:cNvSpPr txBox="1"/>
          <p:nvPr/>
        </p:nvSpPr>
        <p:spPr>
          <a:xfrm>
            <a:off x="1554480" y="5166360"/>
            <a:ext cx="4084168" cy="822960"/>
          </a:xfrm>
          <a:prstGeom prst="rect">
            <a:avLst/>
          </a:prstGeom>
          <a:noFill/>
          <a:ln/>
        </p:spPr>
        <p:txBody>
          <a:bodyPr wrap="square" lIns="0" tIns="0" rIns="0" bIns="0" rtlCol="0" anchor="t"/>
          <a:lstStyle/>
          <a:p>
            <a:pPr indent="0" marL="0">
              <a:lnSpc>
                <a:spcPct val="110000"/>
              </a:lnSpc>
              <a:buNone/>
            </a:pPr>
            <a:r>
              <a:rPr lang="en-US" sz="1500" dirty="0">
                <a:solidFill>
                  <a:srgbClr val="52514E"/>
                </a:solidFill>
                <a:latin typeface="Arial" pitchFamily="34" charset="0"/>
                <a:ea typeface="Arial" pitchFamily="34" charset="-122"/>
                <a:cs typeface="Arial" pitchFamily="34" charset="-120"/>
              </a:rPr>
              <a:t>Hay exactamente 1.000 títulos por año: cualquier serie de tiempo sale plana por construcción del muestreo.</a:t>
            </a:r>
            <a:endParaRPr lang="en-US" sz="1500" dirty="0"/>
          </a:p>
        </p:txBody>
      </p:sp>
      <p:sp>
        <p:nvSpPr>
          <p:cNvPr id="20" name="Shape 18"/>
          <p:cNvSpPr/>
          <p:nvPr/>
        </p:nvSpPr>
        <p:spPr>
          <a:xfrm>
            <a:off x="6233008" y="4343400"/>
            <a:ext cx="5410048" cy="1783080"/>
          </a:xfrm>
          <a:prstGeom prst="roundRect">
            <a:avLst>
              <a:gd name="adj" fmla="val 4103"/>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21" name="Shape 19"/>
          <p:cNvSpPr/>
          <p:nvPr/>
        </p:nvSpPr>
        <p:spPr>
          <a:xfrm>
            <a:off x="6553048" y="4663440"/>
            <a:ext cx="457200" cy="457200"/>
          </a:xfrm>
          <a:prstGeom prst="ellipse">
            <a:avLst/>
          </a:prstGeom>
          <a:solidFill>
            <a:srgbClr val="EB6834"/>
          </a:solidFill>
          <a:ln w="12700">
            <a:solidFill>
              <a:srgbClr val="EB6834"/>
            </a:solidFill>
            <a:prstDash val="solid"/>
          </a:ln>
        </p:spPr>
      </p:sp>
      <p:sp>
        <p:nvSpPr>
          <p:cNvPr id="22" name="Text 20"/>
          <p:cNvSpPr txBox="1"/>
          <p:nvPr/>
        </p:nvSpPr>
        <p:spPr>
          <a:xfrm>
            <a:off x="6553048" y="4663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23" name="Text 21"/>
          <p:cNvSpPr txBox="1"/>
          <p:nvPr/>
        </p:nvSpPr>
        <p:spPr>
          <a:xfrm>
            <a:off x="7238848" y="4663440"/>
            <a:ext cx="4084168" cy="457200"/>
          </a:xfrm>
          <a:prstGeom prst="rect">
            <a:avLst/>
          </a:prstGeom>
          <a:noFill/>
          <a:ln/>
        </p:spPr>
        <p:txBody>
          <a:bodyPr wrap="square" lIns="0" tIns="0" rIns="0" bIns="0" rtlCol="0" anchor="ctr"/>
          <a:lstStyle/>
          <a:p>
            <a:pPr indent="0" marL="0">
              <a:buNone/>
            </a:pPr>
            <a:r>
              <a:rPr lang="en-US" sz="1900" b="1" dirty="0">
                <a:solidFill>
                  <a:srgbClr val="0B0B0B"/>
                </a:solidFill>
                <a:latin typeface="Arial" pitchFamily="34" charset="0"/>
                <a:ea typeface="Arial" pitchFamily="34" charset="-122"/>
                <a:cs typeface="Arial" pitchFamily="34" charset="-120"/>
              </a:rPr>
              <a:t>Retención y engagement</a:t>
            </a:r>
            <a:endParaRPr lang="en-US" sz="1900" dirty="0"/>
          </a:p>
        </p:txBody>
      </p:sp>
      <p:sp>
        <p:nvSpPr>
          <p:cNvPr id="24" name="Text 22"/>
          <p:cNvSpPr txBox="1"/>
          <p:nvPr/>
        </p:nvSpPr>
        <p:spPr>
          <a:xfrm>
            <a:off x="7238848" y="5166360"/>
            <a:ext cx="4084168" cy="822960"/>
          </a:xfrm>
          <a:prstGeom prst="rect">
            <a:avLst/>
          </a:prstGeom>
          <a:noFill/>
          <a:ln/>
        </p:spPr>
        <p:txBody>
          <a:bodyPr wrap="square" lIns="0" tIns="0" rIns="0" bIns="0" rtlCol="0" anchor="t"/>
          <a:lstStyle/>
          <a:p>
            <a:pPr indent="0" marL="0">
              <a:lnSpc>
                <a:spcPct val="110000"/>
              </a:lnSpc>
              <a:buNone/>
            </a:pPr>
            <a:r>
              <a:rPr lang="en-US" sz="1500" dirty="0">
                <a:solidFill>
                  <a:srgbClr val="52514E"/>
                </a:solidFill>
                <a:latin typeface="Arial" pitchFamily="34" charset="0"/>
                <a:ea typeface="Arial" pitchFamily="34" charset="-122"/>
                <a:cs typeface="Arial" pitchFamily="34" charset="-120"/>
              </a:rPr>
              <a:t>Los datos de usuarios nunca llegaron. Usamos proxies de recepción y lo declaramos en el alcance.</a:t>
            </a:r>
            <a:endParaRPr lang="en-US" sz="1500" dirty="0"/>
          </a:p>
        </p:txBody>
      </p:sp>
      <p:sp>
        <p:nvSpPr>
          <p:cNvPr id="25" name="Text 23"/>
          <p:cNvSpPr txBox="1"/>
          <p:nvPr/>
        </p:nvSpPr>
        <p:spPr>
          <a:xfrm>
            <a:off x="548640" y="6355080"/>
            <a:ext cx="9997135" cy="274320"/>
          </a:xfrm>
          <a:prstGeom prst="rect">
            <a:avLst/>
          </a:prstGeom>
          <a:noFill/>
          <a:ln/>
        </p:spPr>
        <p:txBody>
          <a:bodyPr wrap="square" lIns="0" tIns="0" rIns="0" bIns="0" rtlCol="0" anchor="ctr"/>
          <a:lstStyle/>
          <a:p>
            <a:pPr indent="0" marL="0">
              <a:buNone/>
            </a:pPr>
            <a:r>
              <a:rPr lang="en-US" sz="1000" dirty="0">
                <a:solidFill>
                  <a:srgbClr val="6E6D68"/>
                </a:solidFill>
                <a:latin typeface="Arial" pitchFamily="34" charset="0"/>
                <a:ea typeface="Arial" pitchFamily="34" charset="-122"/>
                <a:cs typeface="Arial" pitchFamily="34" charset="-120"/>
              </a:rPr>
              <a:t>Los diez hallazgos de la auditoría están verificados en código, celda por celda, en el notebook 01.</a:t>
            </a:r>
            <a:endParaRPr lang="en-US" sz="1000" dirty="0"/>
          </a:p>
        </p:txBody>
      </p:sp>
      <p:sp>
        <p:nvSpPr>
          <p:cNvPr id="26" name="Text 24"/>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6E6D68"/>
                </a:solidFill>
                <a:latin typeface="Arial" pitchFamily="34" charset="0"/>
                <a:ea typeface="Arial" pitchFamily="34" charset="-122"/>
                <a:cs typeface="Arial"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150" kern="0" dirty="0">
                <a:solidFill>
                  <a:srgbClr val="2A78D6"/>
                </a:solidFill>
                <a:latin typeface="Arial" pitchFamily="34" charset="0"/>
                <a:ea typeface="Arial" pitchFamily="34" charset="-122"/>
                <a:cs typeface="Arial" pitchFamily="34" charset="-120"/>
              </a:rPr>
              <a:t>QUÉ ESTÁ PASANDO · EL CATÁLOGO</a:t>
            </a:r>
            <a:endParaRPr lang="en-US" sz="1100" dirty="0"/>
          </a:p>
        </p:txBody>
      </p:sp>
      <p:sp>
        <p:nvSpPr>
          <p:cNvPr id="3" name="Text 1"/>
          <p:cNvSpPr txBox="1"/>
          <p:nvPr/>
        </p:nvSpPr>
        <p:spPr>
          <a:xfrm>
            <a:off x="548640" y="868680"/>
            <a:ext cx="11094415" cy="640080"/>
          </a:xfrm>
          <a:prstGeom prst="rect">
            <a:avLst/>
          </a:prstGeom>
          <a:noFill/>
          <a:ln/>
        </p:spPr>
        <p:txBody>
          <a:bodyPr wrap="square" lIns="0" tIns="0" rIns="0" bIns="0" rtlCol="0" anchor="t"/>
          <a:lstStyle/>
          <a:p>
            <a:pPr indent="0" marL="0">
              <a:lnSpc>
                <a:spcPct val="105000"/>
              </a:lnSpc>
              <a:buNone/>
            </a:pPr>
            <a:r>
              <a:rPr lang="en-US" sz="3200" b="1" dirty="0">
                <a:solidFill>
                  <a:srgbClr val="0B0B0B"/>
                </a:solidFill>
                <a:latin typeface="Arial" pitchFamily="34" charset="0"/>
                <a:ea typeface="Arial" pitchFamily="34" charset="-122"/>
                <a:cs typeface="Arial" pitchFamily="34" charset="-120"/>
              </a:rPr>
              <a:t>31.991 títulos, y casi la mitad del catálogo es </a:t>
            </a:r>
            <a:pPr indent="0" marL="0">
              <a:lnSpc>
                <a:spcPct val="105000"/>
              </a:lnSpc>
              <a:buNone/>
            </a:pPr>
            <a:r>
              <a:rPr lang="en-US" sz="3200" b="1" dirty="0">
                <a:solidFill>
                  <a:srgbClr val="2A78D6"/>
                </a:solidFill>
                <a:latin typeface="Arial" pitchFamily="34" charset="0"/>
                <a:ea typeface="Arial" pitchFamily="34" charset="-122"/>
                <a:cs typeface="Arial" pitchFamily="34" charset="-120"/>
              </a:rPr>
              <a:t>drama</a:t>
            </a:r>
            <a:endParaRPr lang="en-US" sz="3200" dirty="0"/>
          </a:p>
        </p:txBody>
      </p:sp>
      <p:sp>
        <p:nvSpPr>
          <p:cNvPr id="4" name="Shape 2"/>
          <p:cNvSpPr/>
          <p:nvPr/>
        </p:nvSpPr>
        <p:spPr>
          <a:xfrm>
            <a:off x="548640" y="1920240"/>
            <a:ext cx="2567864" cy="2606040"/>
          </a:xfrm>
          <a:prstGeom prst="roundRect">
            <a:avLst>
              <a:gd name="adj" fmla="val 2849"/>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5" name="Text 3"/>
          <p:cNvSpPr txBox="1"/>
          <p:nvPr/>
        </p:nvSpPr>
        <p:spPr>
          <a:xfrm>
            <a:off x="822960" y="2240280"/>
            <a:ext cx="2019224" cy="822960"/>
          </a:xfrm>
          <a:prstGeom prst="rect">
            <a:avLst/>
          </a:prstGeom>
          <a:noFill/>
          <a:ln/>
        </p:spPr>
        <p:txBody>
          <a:bodyPr wrap="square" lIns="0" tIns="0" rIns="0" bIns="0" rtlCol="0" anchor="ctr"/>
          <a:lstStyle/>
          <a:p>
            <a:pPr indent="0" marL="0">
              <a:buNone/>
            </a:pPr>
            <a:r>
              <a:rPr lang="en-US" sz="4400" b="1" dirty="0">
                <a:solidFill>
                  <a:srgbClr val="0B0B0B"/>
                </a:solidFill>
                <a:latin typeface="Arial" pitchFamily="34" charset="0"/>
                <a:ea typeface="Arial" pitchFamily="34" charset="-122"/>
                <a:cs typeface="Arial" pitchFamily="34" charset="-120"/>
              </a:rPr>
              <a:t>31.991</a:t>
            </a:r>
            <a:endParaRPr lang="en-US" sz="4400" dirty="0"/>
          </a:p>
        </p:txBody>
      </p:sp>
      <p:sp>
        <p:nvSpPr>
          <p:cNvPr id="6" name="Text 4"/>
          <p:cNvSpPr txBox="1"/>
          <p:nvPr/>
        </p:nvSpPr>
        <p:spPr>
          <a:xfrm>
            <a:off x="822960" y="3108960"/>
            <a:ext cx="2019224" cy="548640"/>
          </a:xfrm>
          <a:prstGeom prst="rect">
            <a:avLst/>
          </a:prstGeom>
          <a:noFill/>
          <a:ln/>
        </p:spPr>
        <p:txBody>
          <a:bodyPr wrap="square" lIns="0" tIns="0" rIns="0" bIns="0" rtlCol="0" anchor="t"/>
          <a:lstStyle/>
          <a:p>
            <a:pPr indent="0" marL="0">
              <a:buNone/>
            </a:pPr>
            <a:r>
              <a:rPr lang="en-US" sz="1500" b="1" dirty="0">
                <a:solidFill>
                  <a:srgbClr val="52514E"/>
                </a:solidFill>
                <a:latin typeface="Arial" pitchFamily="34" charset="0"/>
                <a:ea typeface="Arial" pitchFamily="34" charset="-122"/>
                <a:cs typeface="Arial" pitchFamily="34" charset="-120"/>
              </a:rPr>
              <a:t>Títulos en el catálogo</a:t>
            </a:r>
            <a:endParaRPr lang="en-US" sz="1500" dirty="0"/>
          </a:p>
        </p:txBody>
      </p:sp>
      <p:sp>
        <p:nvSpPr>
          <p:cNvPr id="7" name="Text 5"/>
          <p:cNvSpPr txBox="1"/>
          <p:nvPr/>
        </p:nvSpPr>
        <p:spPr>
          <a:xfrm>
            <a:off x="822960" y="3703320"/>
            <a:ext cx="2019224" cy="457200"/>
          </a:xfrm>
          <a:prstGeom prst="rect">
            <a:avLst/>
          </a:prstGeom>
          <a:noFill/>
          <a:ln/>
        </p:spPr>
        <p:txBody>
          <a:bodyPr wrap="square" lIns="0" tIns="0" rIns="0" bIns="0" rtlCol="0" anchor="t"/>
          <a:lstStyle/>
          <a:p>
            <a:pPr indent="0" marL="0">
              <a:buNone/>
            </a:pPr>
            <a:r>
              <a:rPr lang="en-US" sz="1200" dirty="0">
                <a:solidFill>
                  <a:srgbClr val="6E6D68"/>
                </a:solidFill>
                <a:latin typeface="Arial" pitchFamily="34" charset="0"/>
                <a:ea typeface="Arial" pitchFamily="34" charset="-122"/>
                <a:cs typeface="Arial" pitchFamily="34" charset="-120"/>
              </a:rPr>
              <a:t>16.000 películas · 15.991 series</a:t>
            </a:r>
            <a:endParaRPr lang="en-US" sz="1200" dirty="0"/>
          </a:p>
        </p:txBody>
      </p:sp>
      <p:sp>
        <p:nvSpPr>
          <p:cNvPr id="8" name="Shape 6"/>
          <p:cNvSpPr/>
          <p:nvPr/>
        </p:nvSpPr>
        <p:spPr>
          <a:xfrm>
            <a:off x="3390824" y="1920240"/>
            <a:ext cx="2567864" cy="2606040"/>
          </a:xfrm>
          <a:prstGeom prst="roundRect">
            <a:avLst>
              <a:gd name="adj" fmla="val 2849"/>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9" name="Text 7"/>
          <p:cNvSpPr txBox="1"/>
          <p:nvPr/>
        </p:nvSpPr>
        <p:spPr>
          <a:xfrm>
            <a:off x="3665144" y="2240280"/>
            <a:ext cx="2019224" cy="822960"/>
          </a:xfrm>
          <a:prstGeom prst="rect">
            <a:avLst/>
          </a:prstGeom>
          <a:noFill/>
          <a:ln/>
        </p:spPr>
        <p:txBody>
          <a:bodyPr wrap="square" lIns="0" tIns="0" rIns="0" bIns="0" rtlCol="0" anchor="ctr"/>
          <a:lstStyle/>
          <a:p>
            <a:pPr indent="0" marL="0">
              <a:buNone/>
            </a:pPr>
            <a:r>
              <a:rPr lang="en-US" sz="4400" b="1" dirty="0">
                <a:solidFill>
                  <a:srgbClr val="0B0B0B"/>
                </a:solidFill>
                <a:latin typeface="Arial" pitchFamily="34" charset="0"/>
                <a:ea typeface="Arial" pitchFamily="34" charset="-122"/>
                <a:cs typeface="Arial" pitchFamily="34" charset="-120"/>
              </a:rPr>
              <a:t>6,71</a:t>
            </a:r>
            <a:endParaRPr lang="en-US" sz="4400" dirty="0"/>
          </a:p>
        </p:txBody>
      </p:sp>
      <p:sp>
        <p:nvSpPr>
          <p:cNvPr id="10" name="Text 8"/>
          <p:cNvSpPr txBox="1"/>
          <p:nvPr/>
        </p:nvSpPr>
        <p:spPr>
          <a:xfrm>
            <a:off x="3665144" y="3108960"/>
            <a:ext cx="2019224" cy="548640"/>
          </a:xfrm>
          <a:prstGeom prst="rect">
            <a:avLst/>
          </a:prstGeom>
          <a:noFill/>
          <a:ln/>
        </p:spPr>
        <p:txBody>
          <a:bodyPr wrap="square" lIns="0" tIns="0" rIns="0" bIns="0" rtlCol="0" anchor="t"/>
          <a:lstStyle/>
          <a:p>
            <a:pPr indent="0" marL="0">
              <a:buNone/>
            </a:pPr>
            <a:r>
              <a:rPr lang="en-US" sz="1500" b="1" dirty="0">
                <a:solidFill>
                  <a:srgbClr val="52514E"/>
                </a:solidFill>
                <a:latin typeface="Arial" pitchFamily="34" charset="0"/>
                <a:ea typeface="Arial" pitchFamily="34" charset="-122"/>
                <a:cs typeface="Arial" pitchFamily="34" charset="-120"/>
              </a:rPr>
              <a:t>Nota media ponderada</a:t>
            </a:r>
            <a:endParaRPr lang="en-US" sz="1500" dirty="0"/>
          </a:p>
        </p:txBody>
      </p:sp>
      <p:sp>
        <p:nvSpPr>
          <p:cNvPr id="11" name="Text 9"/>
          <p:cNvSpPr txBox="1"/>
          <p:nvPr/>
        </p:nvSpPr>
        <p:spPr>
          <a:xfrm>
            <a:off x="3665144" y="3703320"/>
            <a:ext cx="2019224" cy="457200"/>
          </a:xfrm>
          <a:prstGeom prst="rect">
            <a:avLst/>
          </a:prstGeom>
          <a:noFill/>
          <a:ln/>
        </p:spPr>
        <p:txBody>
          <a:bodyPr wrap="square" lIns="0" tIns="0" rIns="0" bIns="0" rtlCol="0" anchor="t"/>
          <a:lstStyle/>
          <a:p>
            <a:pPr indent="0" marL="0">
              <a:buNone/>
            </a:pPr>
            <a:r>
              <a:rPr lang="en-US" sz="1200" dirty="0">
                <a:solidFill>
                  <a:srgbClr val="6E6D68"/>
                </a:solidFill>
                <a:latin typeface="Arial" pitchFamily="34" charset="0"/>
                <a:ea typeface="Arial" pitchFamily="34" charset="-122"/>
                <a:cs typeface="Arial" pitchFamily="34" charset="-120"/>
              </a:rPr>
              <a:t>sobre 20.980 con votación suficiente</a:t>
            </a:r>
            <a:endParaRPr lang="en-US" sz="1200" dirty="0"/>
          </a:p>
        </p:txBody>
      </p:sp>
      <p:sp>
        <p:nvSpPr>
          <p:cNvPr id="12" name="Shape 10"/>
          <p:cNvSpPr/>
          <p:nvPr/>
        </p:nvSpPr>
        <p:spPr>
          <a:xfrm>
            <a:off x="6233008" y="1920240"/>
            <a:ext cx="2567864" cy="2606040"/>
          </a:xfrm>
          <a:prstGeom prst="roundRect">
            <a:avLst>
              <a:gd name="adj" fmla="val 2849"/>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13" name="Text 11"/>
          <p:cNvSpPr txBox="1"/>
          <p:nvPr/>
        </p:nvSpPr>
        <p:spPr>
          <a:xfrm>
            <a:off x="6507328" y="2240280"/>
            <a:ext cx="2019224" cy="822960"/>
          </a:xfrm>
          <a:prstGeom prst="rect">
            <a:avLst/>
          </a:prstGeom>
          <a:noFill/>
          <a:ln/>
        </p:spPr>
        <p:txBody>
          <a:bodyPr wrap="square" lIns="0" tIns="0" rIns="0" bIns="0" rtlCol="0" anchor="ctr"/>
          <a:lstStyle/>
          <a:p>
            <a:pPr indent="0" marL="0">
              <a:buNone/>
            </a:pPr>
            <a:r>
              <a:rPr lang="en-US" sz="4400" b="1" dirty="0">
                <a:solidFill>
                  <a:srgbClr val="0B0B0B"/>
                </a:solidFill>
                <a:latin typeface="Arial" pitchFamily="34" charset="0"/>
                <a:ea typeface="Arial" pitchFamily="34" charset="-122"/>
                <a:cs typeface="Arial" pitchFamily="34" charset="-120"/>
              </a:rPr>
              <a:t>1,70×</a:t>
            </a:r>
            <a:endParaRPr lang="en-US" sz="4400" dirty="0"/>
          </a:p>
        </p:txBody>
      </p:sp>
      <p:sp>
        <p:nvSpPr>
          <p:cNvPr id="14" name="Text 12"/>
          <p:cNvSpPr txBox="1"/>
          <p:nvPr/>
        </p:nvSpPr>
        <p:spPr>
          <a:xfrm>
            <a:off x="6507328" y="3108960"/>
            <a:ext cx="2019224" cy="548640"/>
          </a:xfrm>
          <a:prstGeom prst="rect">
            <a:avLst/>
          </a:prstGeom>
          <a:noFill/>
          <a:ln/>
        </p:spPr>
        <p:txBody>
          <a:bodyPr wrap="square" lIns="0" tIns="0" rIns="0" bIns="0" rtlCol="0" anchor="t"/>
          <a:lstStyle/>
          <a:p>
            <a:pPr indent="0" marL="0">
              <a:buNone/>
            </a:pPr>
            <a:r>
              <a:rPr lang="en-US" sz="1500" b="1" dirty="0">
                <a:solidFill>
                  <a:srgbClr val="52514E"/>
                </a:solidFill>
                <a:latin typeface="Arial" pitchFamily="34" charset="0"/>
                <a:ea typeface="Arial" pitchFamily="34" charset="-122"/>
                <a:cs typeface="Arial" pitchFamily="34" charset="-120"/>
              </a:rPr>
              <a:t>ROI mediano</a:t>
            </a:r>
            <a:endParaRPr lang="en-US" sz="1500" dirty="0"/>
          </a:p>
        </p:txBody>
      </p:sp>
      <p:sp>
        <p:nvSpPr>
          <p:cNvPr id="15" name="Text 13"/>
          <p:cNvSpPr txBox="1"/>
          <p:nvPr/>
        </p:nvSpPr>
        <p:spPr>
          <a:xfrm>
            <a:off x="6507328" y="3703320"/>
            <a:ext cx="2019224" cy="457200"/>
          </a:xfrm>
          <a:prstGeom prst="rect">
            <a:avLst/>
          </a:prstGeom>
          <a:noFill/>
          <a:ln/>
        </p:spPr>
        <p:txBody>
          <a:bodyPr wrap="square" lIns="0" tIns="0" rIns="0" bIns="0" rtlCol="0" anchor="t"/>
          <a:lstStyle/>
          <a:p>
            <a:pPr indent="0" marL="0">
              <a:buNone/>
            </a:pPr>
            <a:r>
              <a:rPr lang="en-US" sz="1200" dirty="0">
                <a:solidFill>
                  <a:srgbClr val="6E6D68"/>
                </a:solidFill>
                <a:latin typeface="Arial" pitchFamily="34" charset="0"/>
                <a:ea typeface="Arial" pitchFamily="34" charset="-122"/>
                <a:cs typeface="Arial" pitchFamily="34" charset="-120"/>
              </a:rPr>
              <a:t>sobre 3.540 películas con datos financieros</a:t>
            </a:r>
            <a:endParaRPr lang="en-US" sz="1200" dirty="0"/>
          </a:p>
        </p:txBody>
      </p:sp>
      <p:sp>
        <p:nvSpPr>
          <p:cNvPr id="16" name="Shape 14"/>
          <p:cNvSpPr/>
          <p:nvPr/>
        </p:nvSpPr>
        <p:spPr>
          <a:xfrm>
            <a:off x="9075191" y="1920240"/>
            <a:ext cx="2567864" cy="2606040"/>
          </a:xfrm>
          <a:prstGeom prst="roundRect">
            <a:avLst>
              <a:gd name="adj" fmla="val 2849"/>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17" name="Text 15"/>
          <p:cNvSpPr txBox="1"/>
          <p:nvPr/>
        </p:nvSpPr>
        <p:spPr>
          <a:xfrm>
            <a:off x="9349511" y="2240280"/>
            <a:ext cx="2019224" cy="822960"/>
          </a:xfrm>
          <a:prstGeom prst="rect">
            <a:avLst/>
          </a:prstGeom>
          <a:noFill/>
          <a:ln/>
        </p:spPr>
        <p:txBody>
          <a:bodyPr wrap="square" lIns="0" tIns="0" rIns="0" bIns="0" rtlCol="0" anchor="ctr"/>
          <a:lstStyle/>
          <a:p>
            <a:pPr indent="0" marL="0">
              <a:buNone/>
            </a:pPr>
            <a:r>
              <a:rPr lang="en-US" sz="4400" b="1" dirty="0">
                <a:solidFill>
                  <a:srgbClr val="0B0B0B"/>
                </a:solidFill>
                <a:latin typeface="Arial" pitchFamily="34" charset="0"/>
                <a:ea typeface="Arial" pitchFamily="34" charset="-122"/>
                <a:cs typeface="Arial" pitchFamily="34" charset="-120"/>
              </a:rPr>
              <a:t>46,2%</a:t>
            </a:r>
            <a:endParaRPr lang="en-US" sz="4400" dirty="0"/>
          </a:p>
        </p:txBody>
      </p:sp>
      <p:sp>
        <p:nvSpPr>
          <p:cNvPr id="18" name="Text 16"/>
          <p:cNvSpPr txBox="1"/>
          <p:nvPr/>
        </p:nvSpPr>
        <p:spPr>
          <a:xfrm>
            <a:off x="9349511" y="3108960"/>
            <a:ext cx="2019224" cy="548640"/>
          </a:xfrm>
          <a:prstGeom prst="rect">
            <a:avLst/>
          </a:prstGeom>
          <a:noFill/>
          <a:ln/>
        </p:spPr>
        <p:txBody>
          <a:bodyPr wrap="square" lIns="0" tIns="0" rIns="0" bIns="0" rtlCol="0" anchor="t"/>
          <a:lstStyle/>
          <a:p>
            <a:pPr indent="0" marL="0">
              <a:buNone/>
            </a:pPr>
            <a:r>
              <a:rPr lang="en-US" sz="1500" b="1" dirty="0">
                <a:solidFill>
                  <a:srgbClr val="52514E"/>
                </a:solidFill>
                <a:latin typeface="Arial" pitchFamily="34" charset="0"/>
                <a:ea typeface="Arial" pitchFamily="34" charset="-122"/>
                <a:cs typeface="Arial" pitchFamily="34" charset="-120"/>
              </a:rPr>
              <a:t>Del catálogo es drama</a:t>
            </a:r>
            <a:endParaRPr lang="en-US" sz="1500" dirty="0"/>
          </a:p>
        </p:txBody>
      </p:sp>
      <p:sp>
        <p:nvSpPr>
          <p:cNvPr id="19" name="Text 17"/>
          <p:cNvSpPr txBox="1"/>
          <p:nvPr/>
        </p:nvSpPr>
        <p:spPr>
          <a:xfrm>
            <a:off x="9349511" y="3703320"/>
            <a:ext cx="2019224" cy="457200"/>
          </a:xfrm>
          <a:prstGeom prst="rect">
            <a:avLst/>
          </a:prstGeom>
          <a:noFill/>
          <a:ln/>
        </p:spPr>
        <p:txBody>
          <a:bodyPr wrap="square" lIns="0" tIns="0" rIns="0" bIns="0" rtlCol="0" anchor="t"/>
          <a:lstStyle/>
          <a:p>
            <a:pPr indent="0" marL="0">
              <a:buNone/>
            </a:pPr>
            <a:r>
              <a:rPr lang="en-US" sz="1200" dirty="0">
                <a:solidFill>
                  <a:srgbClr val="6E6D68"/>
                </a:solidFill>
                <a:latin typeface="Arial" pitchFamily="34" charset="0"/>
                <a:ea typeface="Arial" pitchFamily="34" charset="-122"/>
                <a:cs typeface="Arial" pitchFamily="34" charset="-120"/>
              </a:rPr>
              <a:t>14.773 títulos</a:t>
            </a:r>
            <a:endParaRPr lang="en-US" sz="1200" dirty="0"/>
          </a:p>
        </p:txBody>
      </p:sp>
      <p:sp>
        <p:nvSpPr>
          <p:cNvPr id="20" name="Shape 18"/>
          <p:cNvSpPr/>
          <p:nvPr/>
        </p:nvSpPr>
        <p:spPr>
          <a:xfrm>
            <a:off x="9349511" y="4224528"/>
            <a:ext cx="2019224" cy="128016"/>
          </a:xfrm>
          <a:prstGeom prst="rect">
            <a:avLst/>
          </a:prstGeom>
          <a:solidFill>
            <a:srgbClr val="E1E0D9"/>
          </a:solidFill>
          <a:ln w="12700">
            <a:solidFill>
              <a:srgbClr val="E1E0D9"/>
            </a:solidFill>
            <a:prstDash val="solid"/>
          </a:ln>
        </p:spPr>
      </p:sp>
      <p:sp>
        <p:nvSpPr>
          <p:cNvPr id="21" name="Shape 19"/>
          <p:cNvSpPr/>
          <p:nvPr/>
        </p:nvSpPr>
        <p:spPr>
          <a:xfrm>
            <a:off x="9349511" y="4224528"/>
            <a:ext cx="932450" cy="128016"/>
          </a:xfrm>
          <a:prstGeom prst="rect">
            <a:avLst/>
          </a:prstGeom>
          <a:solidFill>
            <a:srgbClr val="2A78D6"/>
          </a:solidFill>
          <a:ln w="12700">
            <a:solidFill>
              <a:srgbClr val="2A78D6"/>
            </a:solidFill>
            <a:prstDash val="solid"/>
          </a:ln>
        </p:spPr>
      </p:sp>
      <p:sp>
        <p:nvSpPr>
          <p:cNvPr id="22" name="Shape 20"/>
          <p:cNvSpPr/>
          <p:nvPr/>
        </p:nvSpPr>
        <p:spPr>
          <a:xfrm>
            <a:off x="548640" y="4937760"/>
            <a:ext cx="11094415" cy="960120"/>
          </a:xfrm>
          <a:prstGeom prst="roundRect">
            <a:avLst>
              <a:gd name="adj" fmla="val 7619"/>
            </a:avLst>
          </a:prstGeom>
          <a:solidFill>
            <a:srgbClr val="EEF4FC"/>
          </a:solidFill>
          <a:ln w="12700">
            <a:solidFill>
              <a:srgbClr val="EEF4FC"/>
            </a:solidFill>
            <a:prstDash val="solid"/>
          </a:ln>
        </p:spPr>
      </p:sp>
      <p:sp>
        <p:nvSpPr>
          <p:cNvPr id="23" name="Text 21"/>
          <p:cNvSpPr txBox="1"/>
          <p:nvPr/>
        </p:nvSpPr>
        <p:spPr>
          <a:xfrm>
            <a:off x="914400" y="4937760"/>
            <a:ext cx="10362895" cy="960120"/>
          </a:xfrm>
          <a:prstGeom prst="rect">
            <a:avLst/>
          </a:prstGeom>
          <a:noFill/>
          <a:ln/>
        </p:spPr>
        <p:txBody>
          <a:bodyPr wrap="square" lIns="0" tIns="0" rIns="0" bIns="0" rtlCol="0" anchor="ctr"/>
          <a:lstStyle/>
          <a:p>
            <a:pPr indent="0" marL="0">
              <a:buNone/>
            </a:pPr>
            <a:r>
              <a:rPr lang="en-US" sz="1600" b="1" dirty="0">
                <a:solidFill>
                  <a:srgbClr val="0B0B0B"/>
                </a:solidFill>
                <a:latin typeface="Arial" pitchFamily="34" charset="0"/>
                <a:ea typeface="Arial" pitchFamily="34" charset="-122"/>
                <a:cs typeface="Arial" pitchFamily="34" charset="-120"/>
              </a:rPr>
              <a:t>Por qué ponderada: </a:t>
            </a:r>
            <a:pPr indent="0" marL="0">
              <a:buNone/>
            </a:pPr>
            <a:r>
              <a:rPr lang="en-US" sz="1600" dirty="0">
                <a:solidFill>
                  <a:srgbClr val="52514E"/>
                </a:solidFill>
                <a:latin typeface="Arial" pitchFamily="34" charset="0"/>
                <a:ea typeface="Arial" pitchFamily="34" charset="-122"/>
                <a:cs typeface="Arial" pitchFamily="34" charset="-120"/>
              </a:rPr>
              <a:t>sin ponderar por votos, el ranking del catálogo lo encabezan títulos con un solo voto y nota 10,0.</a:t>
            </a:r>
            <a:endParaRPr lang="en-US" sz="1600" dirty="0"/>
          </a:p>
        </p:txBody>
      </p:sp>
      <p:sp>
        <p:nvSpPr>
          <p:cNvPr id="24" name="Text 22"/>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6E6D68"/>
                </a:solidFill>
                <a:latin typeface="Arial" pitchFamily="34" charset="0"/>
                <a:ea typeface="Arial" pitchFamily="34" charset="-122"/>
                <a:cs typeface="Arial"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pic>
        <p:nvPicPr>
          <p:cNvPr id="2" name="Image 0" descr="Volumen contra nota por género">    </p:cNvPr>
          <p:cNvPicPr>
            <a:picLocks noChangeAspect="1"/>
          </p:cNvPicPr>
          <p:nvPr/>
        </p:nvPicPr>
        <p:blipFill>
          <a:blip r:embed="rId1"/>
          <a:stretch>
            <a:fillRect/>
          </a:stretch>
        </p:blipFill>
        <p:spPr>
          <a:xfrm>
            <a:off x="411480" y="1073950"/>
            <a:ext cx="7086600" cy="4527220"/>
          </a:xfrm>
          <a:prstGeom prst="rect">
            <a:avLst/>
          </a:prstGeom>
        </p:spPr>
      </p:pic>
      <p:sp>
        <p:nvSpPr>
          <p:cNvPr id="3" name="Text 0"/>
          <p:cNvSpPr txBox="1"/>
          <p:nvPr/>
        </p:nvSpPr>
        <p:spPr>
          <a:xfrm>
            <a:off x="7863840" y="685800"/>
            <a:ext cx="3779215" cy="274320"/>
          </a:xfrm>
          <a:prstGeom prst="rect">
            <a:avLst/>
          </a:prstGeom>
          <a:noFill/>
          <a:ln/>
        </p:spPr>
        <p:txBody>
          <a:bodyPr wrap="square" lIns="0" tIns="0" rIns="0" bIns="0" rtlCol="0" anchor="ctr"/>
          <a:lstStyle/>
          <a:p>
            <a:pPr indent="0" marL="0">
              <a:buNone/>
            </a:pPr>
            <a:r>
              <a:rPr lang="en-US" sz="1100" b="1" spc="150" kern="0" dirty="0">
                <a:solidFill>
                  <a:srgbClr val="2A78D6"/>
                </a:solidFill>
                <a:latin typeface="Arial" pitchFamily="34" charset="0"/>
                <a:ea typeface="Arial" pitchFamily="34" charset="-122"/>
                <a:cs typeface="Arial" pitchFamily="34" charset="-120"/>
              </a:rPr>
              <a:t>EL HALLAZGO</a:t>
            </a:r>
            <a:endParaRPr lang="en-US" sz="1100" dirty="0"/>
          </a:p>
        </p:txBody>
      </p:sp>
      <p:sp>
        <p:nvSpPr>
          <p:cNvPr id="4" name="Text 1"/>
          <p:cNvSpPr txBox="1"/>
          <p:nvPr/>
        </p:nvSpPr>
        <p:spPr>
          <a:xfrm>
            <a:off x="7863840" y="1005840"/>
            <a:ext cx="3779215" cy="1463040"/>
          </a:xfrm>
          <a:prstGeom prst="rect">
            <a:avLst/>
          </a:prstGeom>
          <a:noFill/>
          <a:ln/>
        </p:spPr>
        <p:txBody>
          <a:bodyPr wrap="square" lIns="0" tIns="0" rIns="0" bIns="0" rtlCol="0" anchor="t"/>
          <a:lstStyle/>
          <a:p>
            <a:pPr indent="0" marL="0">
              <a:lnSpc>
                <a:spcPct val="105000"/>
              </a:lnSpc>
              <a:buNone/>
            </a:pPr>
            <a:r>
              <a:rPr lang="en-US" sz="2800" b="1" dirty="0">
                <a:solidFill>
                  <a:srgbClr val="0B0B0B"/>
                </a:solidFill>
                <a:latin typeface="Arial" pitchFamily="34" charset="0"/>
                <a:ea typeface="Arial" pitchFamily="34" charset="-122"/>
                <a:cs typeface="Arial" pitchFamily="34" charset="-120"/>
              </a:rPr>
              <a:t>Lo que más se produce no es lo que mejor se recibe</a:t>
            </a:r>
            <a:endParaRPr lang="en-US" sz="2800" dirty="0"/>
          </a:p>
        </p:txBody>
      </p:sp>
      <p:sp>
        <p:nvSpPr>
          <p:cNvPr id="5" name="Text 2"/>
          <p:cNvSpPr txBox="1"/>
          <p:nvPr/>
        </p:nvSpPr>
        <p:spPr>
          <a:xfrm>
            <a:off x="7863840" y="2743200"/>
            <a:ext cx="3779215" cy="640080"/>
          </a:xfrm>
          <a:prstGeom prst="rect">
            <a:avLst/>
          </a:prstGeom>
          <a:noFill/>
          <a:ln/>
        </p:spPr>
        <p:txBody>
          <a:bodyPr wrap="square" lIns="0" tIns="0" rIns="0" bIns="0" rtlCol="0" anchor="ctr"/>
          <a:lstStyle/>
          <a:p>
            <a:pPr indent="0" marL="0">
              <a:buNone/>
            </a:pPr>
            <a:r>
              <a:rPr lang="en-US" sz="4000" b="1" dirty="0">
                <a:solidFill>
                  <a:srgbClr val="D03B3B"/>
                </a:solidFill>
                <a:latin typeface="Arial" pitchFamily="34" charset="0"/>
                <a:ea typeface="Arial" pitchFamily="34" charset="-122"/>
                <a:cs typeface="Arial" pitchFamily="34" charset="-120"/>
              </a:rPr>
              <a:t>4.387</a:t>
            </a:r>
            <a:endParaRPr lang="en-US" sz="4000" dirty="0"/>
          </a:p>
        </p:txBody>
      </p:sp>
      <p:sp>
        <p:nvSpPr>
          <p:cNvPr id="6" name="Text 3"/>
          <p:cNvSpPr txBox="1"/>
          <p:nvPr/>
        </p:nvSpPr>
        <p:spPr>
          <a:xfrm>
            <a:off x="7863840" y="3401568"/>
            <a:ext cx="3779215" cy="777240"/>
          </a:xfrm>
          <a:prstGeom prst="rect">
            <a:avLst/>
          </a:prstGeom>
          <a:noFill/>
          <a:ln/>
        </p:spPr>
        <p:txBody>
          <a:bodyPr wrap="square" lIns="0" tIns="0" rIns="0" bIns="0" rtlCol="0" anchor="t"/>
          <a:lstStyle/>
          <a:p>
            <a:pPr indent="0" marL="0">
              <a:buNone/>
            </a:pPr>
            <a:r>
              <a:rPr lang="en-US" sz="1500" dirty="0">
                <a:solidFill>
                  <a:srgbClr val="52514E"/>
                </a:solidFill>
                <a:latin typeface="Arial" pitchFamily="34" charset="0"/>
                <a:ea typeface="Arial" pitchFamily="34" charset="-122"/>
                <a:cs typeface="Arial" pitchFamily="34" charset="-120"/>
              </a:rPr>
              <a:t>títulos de terror y suspenso: un tercio de las películas, con las dos notas más bajas (6,08)</a:t>
            </a:r>
            <a:endParaRPr lang="en-US" sz="1500" dirty="0"/>
          </a:p>
        </p:txBody>
      </p:sp>
      <p:sp>
        <p:nvSpPr>
          <p:cNvPr id="7" name="Text 4"/>
          <p:cNvSpPr txBox="1"/>
          <p:nvPr/>
        </p:nvSpPr>
        <p:spPr>
          <a:xfrm>
            <a:off x="7863840" y="4343400"/>
            <a:ext cx="3779215" cy="640080"/>
          </a:xfrm>
          <a:prstGeom prst="rect">
            <a:avLst/>
          </a:prstGeom>
          <a:noFill/>
          <a:ln/>
        </p:spPr>
        <p:txBody>
          <a:bodyPr wrap="square" lIns="0" tIns="0" rIns="0" bIns="0" rtlCol="0" anchor="ctr"/>
          <a:lstStyle/>
          <a:p>
            <a:pPr indent="0" marL="0">
              <a:buNone/>
            </a:pPr>
            <a:r>
              <a:rPr lang="en-US" sz="4000" b="1" dirty="0">
                <a:solidFill>
                  <a:srgbClr val="0CA30C"/>
                </a:solidFill>
                <a:latin typeface="Arial" pitchFamily="34" charset="0"/>
                <a:ea typeface="Arial" pitchFamily="34" charset="-122"/>
                <a:cs typeface="Arial" pitchFamily="34" charset="-120"/>
              </a:rPr>
              <a:t>+0,77</a:t>
            </a:r>
            <a:endParaRPr lang="en-US" sz="4000" dirty="0"/>
          </a:p>
        </p:txBody>
      </p:sp>
      <p:sp>
        <p:nvSpPr>
          <p:cNvPr id="8" name="Text 5"/>
          <p:cNvSpPr txBox="1"/>
          <p:nvPr/>
        </p:nvSpPr>
        <p:spPr>
          <a:xfrm>
            <a:off x="7863840" y="5001768"/>
            <a:ext cx="3779215" cy="777240"/>
          </a:xfrm>
          <a:prstGeom prst="rect">
            <a:avLst/>
          </a:prstGeom>
          <a:noFill/>
          <a:ln/>
        </p:spPr>
        <p:txBody>
          <a:bodyPr wrap="square" lIns="0" tIns="0" rIns="0" bIns="0" rtlCol="0" anchor="t"/>
          <a:lstStyle/>
          <a:p>
            <a:pPr indent="0" marL="0">
              <a:buNone/>
            </a:pPr>
            <a:r>
              <a:rPr lang="en-US" sz="1500" dirty="0">
                <a:solidFill>
                  <a:srgbClr val="52514E"/>
                </a:solidFill>
                <a:latin typeface="Arial" pitchFamily="34" charset="0"/>
                <a:ea typeface="Arial" pitchFamily="34" charset="-122"/>
                <a:cs typeface="Arial" pitchFamily="34" charset="-120"/>
              </a:rPr>
              <a:t>puntos de nota en documental, musical e histórico, con solo 1.546 títulos</a:t>
            </a:r>
            <a:endParaRPr lang="en-US" sz="1500" dirty="0"/>
          </a:p>
        </p:txBody>
      </p:sp>
      <p:sp>
        <p:nvSpPr>
          <p:cNvPr id="9" name="Text 6"/>
          <p:cNvSpPr txBox="1"/>
          <p:nvPr/>
        </p:nvSpPr>
        <p:spPr>
          <a:xfrm>
            <a:off x="548640" y="6355080"/>
            <a:ext cx="9997135" cy="274320"/>
          </a:xfrm>
          <a:prstGeom prst="rect">
            <a:avLst/>
          </a:prstGeom>
          <a:noFill/>
          <a:ln/>
        </p:spPr>
        <p:txBody>
          <a:bodyPr wrap="square" lIns="0" tIns="0" rIns="0" bIns="0" rtlCol="0" anchor="ctr"/>
          <a:lstStyle/>
          <a:p>
            <a:pPr indent="0" marL="0">
              <a:buNone/>
            </a:pPr>
            <a:r>
              <a:rPr lang="en-US" sz="1000" dirty="0">
                <a:solidFill>
                  <a:srgbClr val="6E6D68"/>
                </a:solidFill>
                <a:latin typeface="Arial" pitchFamily="34" charset="0"/>
                <a:ea typeface="Arial" pitchFamily="34" charset="-122"/>
                <a:cs typeface="Arial" pitchFamily="34" charset="-120"/>
              </a:rPr>
              <a:t>Cortes en las medianas del conjunto. Eje horizontal logarítmico. Datos de catálogo, no de usuarios.</a:t>
            </a:r>
            <a:endParaRPr lang="en-US" sz="1000" dirty="0"/>
          </a:p>
        </p:txBody>
      </p:sp>
      <p:sp>
        <p:nvSpPr>
          <p:cNvPr id="10" name="Text 7"/>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6E6D68"/>
                </a:solidFill>
                <a:latin typeface="Arial" pitchFamily="34" charset="0"/>
                <a:ea typeface="Arial" pitchFamily="34" charset="-122"/>
                <a:cs typeface="Arial"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685800"/>
            <a:ext cx="4023360" cy="274320"/>
          </a:xfrm>
          <a:prstGeom prst="rect">
            <a:avLst/>
          </a:prstGeom>
          <a:noFill/>
          <a:ln/>
        </p:spPr>
        <p:txBody>
          <a:bodyPr wrap="square" lIns="0" tIns="0" rIns="0" bIns="0" rtlCol="0" anchor="ctr"/>
          <a:lstStyle/>
          <a:p>
            <a:pPr indent="0" marL="0">
              <a:buNone/>
            </a:pPr>
            <a:r>
              <a:rPr lang="en-US" sz="1100" b="1" spc="150" kern="0" dirty="0">
                <a:solidFill>
                  <a:srgbClr val="2A78D6"/>
                </a:solidFill>
                <a:latin typeface="Arial" pitchFamily="34" charset="0"/>
                <a:ea typeface="Arial" pitchFamily="34" charset="-122"/>
                <a:cs typeface="Arial" pitchFamily="34" charset="-120"/>
              </a:rPr>
              <a:t>POR QUÉ OCURRE</a:t>
            </a:r>
            <a:endParaRPr lang="en-US" sz="1100" dirty="0"/>
          </a:p>
        </p:txBody>
      </p:sp>
      <p:sp>
        <p:nvSpPr>
          <p:cNvPr id="3" name="Text 1"/>
          <p:cNvSpPr txBox="1"/>
          <p:nvPr/>
        </p:nvSpPr>
        <p:spPr>
          <a:xfrm>
            <a:off x="548640" y="1005840"/>
            <a:ext cx="4023360" cy="1463040"/>
          </a:xfrm>
          <a:prstGeom prst="rect">
            <a:avLst/>
          </a:prstGeom>
          <a:noFill/>
          <a:ln/>
        </p:spPr>
        <p:txBody>
          <a:bodyPr wrap="square" lIns="0" tIns="0" rIns="0" bIns="0" rtlCol="0" anchor="t"/>
          <a:lstStyle/>
          <a:p>
            <a:pPr indent="0" marL="0">
              <a:lnSpc>
                <a:spcPct val="105000"/>
              </a:lnSpc>
              <a:buNone/>
            </a:pPr>
            <a:r>
              <a:rPr lang="en-US" sz="2800" b="1" dirty="0">
                <a:solidFill>
                  <a:srgbClr val="0B0B0B"/>
                </a:solidFill>
                <a:latin typeface="Arial" pitchFamily="34" charset="0"/>
                <a:ea typeface="Arial" pitchFamily="34" charset="-122"/>
                <a:cs typeface="Arial" pitchFamily="34" charset="-120"/>
              </a:rPr>
              <a:t>Terror no es un error: es </a:t>
            </a:r>
            <a:pPr indent="0" marL="0">
              <a:lnSpc>
                <a:spcPct val="105000"/>
              </a:lnSpc>
              <a:buNone/>
            </a:pPr>
            <a:r>
              <a:rPr lang="en-US" sz="2800" b="1" dirty="0">
                <a:solidFill>
                  <a:srgbClr val="2A78D6"/>
                </a:solidFill>
                <a:latin typeface="Arial" pitchFamily="34" charset="0"/>
                <a:ea typeface="Arial" pitchFamily="34" charset="-122"/>
                <a:cs typeface="Arial" pitchFamily="34" charset="-120"/>
              </a:rPr>
              <a:t>una apuesta de costo</a:t>
            </a:r>
            <a:endParaRPr lang="en-US" sz="2800" dirty="0"/>
          </a:p>
        </p:txBody>
      </p:sp>
      <p:sp>
        <p:nvSpPr>
          <p:cNvPr id="4" name="Text 2"/>
          <p:cNvSpPr txBox="1"/>
          <p:nvPr/>
        </p:nvSpPr>
        <p:spPr>
          <a:xfrm>
            <a:off x="548640" y="2697480"/>
            <a:ext cx="1325880" cy="640080"/>
          </a:xfrm>
          <a:prstGeom prst="rect">
            <a:avLst/>
          </a:prstGeom>
          <a:noFill/>
          <a:ln/>
        </p:spPr>
        <p:txBody>
          <a:bodyPr wrap="square" lIns="0" tIns="0" rIns="0" bIns="0" rtlCol="0" anchor="t"/>
          <a:lstStyle/>
          <a:p>
            <a:pPr indent="0" marL="0">
              <a:buNone/>
            </a:pPr>
            <a:r>
              <a:rPr lang="en-US" sz="2400" b="1" dirty="0">
                <a:solidFill>
                  <a:srgbClr val="0B0B0B"/>
                </a:solidFill>
                <a:latin typeface="Arial" pitchFamily="34" charset="0"/>
                <a:ea typeface="Arial" pitchFamily="34" charset="-122"/>
                <a:cs typeface="Arial" pitchFamily="34" charset="-120"/>
              </a:rPr>
              <a:t>7 M</a:t>
            </a:r>
            <a:endParaRPr lang="en-US" sz="2400" dirty="0"/>
          </a:p>
        </p:txBody>
      </p:sp>
      <p:sp>
        <p:nvSpPr>
          <p:cNvPr id="5" name="Text 3"/>
          <p:cNvSpPr txBox="1"/>
          <p:nvPr/>
        </p:nvSpPr>
        <p:spPr>
          <a:xfrm>
            <a:off x="1965960" y="2724912"/>
            <a:ext cx="2606040" cy="731520"/>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presupuesto mediano de terror, contra 50 millones de animación</a:t>
            </a:r>
            <a:endParaRPr lang="en-US" sz="1400" dirty="0"/>
          </a:p>
        </p:txBody>
      </p:sp>
      <p:sp>
        <p:nvSpPr>
          <p:cNvPr id="6" name="Text 4"/>
          <p:cNvSpPr txBox="1"/>
          <p:nvPr/>
        </p:nvSpPr>
        <p:spPr>
          <a:xfrm>
            <a:off x="548640" y="3566160"/>
            <a:ext cx="1325880" cy="640080"/>
          </a:xfrm>
          <a:prstGeom prst="rect">
            <a:avLst/>
          </a:prstGeom>
          <a:noFill/>
          <a:ln/>
        </p:spPr>
        <p:txBody>
          <a:bodyPr wrap="square" lIns="0" tIns="0" rIns="0" bIns="0" rtlCol="0" anchor="t"/>
          <a:lstStyle/>
          <a:p>
            <a:pPr indent="0" marL="0">
              <a:buNone/>
            </a:pPr>
            <a:r>
              <a:rPr lang="en-US" sz="2400" b="1" dirty="0">
                <a:solidFill>
                  <a:srgbClr val="0B0B0B"/>
                </a:solidFill>
                <a:latin typeface="Arial" pitchFamily="34" charset="0"/>
                <a:ea typeface="Arial" pitchFamily="34" charset="-122"/>
                <a:cs typeface="Arial" pitchFamily="34" charset="-120"/>
              </a:rPr>
              <a:t>2,03×</a:t>
            </a:r>
            <a:endParaRPr lang="en-US" sz="2400" dirty="0"/>
          </a:p>
        </p:txBody>
      </p:sp>
      <p:sp>
        <p:nvSpPr>
          <p:cNvPr id="7" name="Text 5"/>
          <p:cNvSpPr txBox="1"/>
          <p:nvPr/>
        </p:nvSpPr>
        <p:spPr>
          <a:xfrm>
            <a:off x="1965960" y="3593592"/>
            <a:ext cx="2606040" cy="731520"/>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ROI mediano de terror: sobre la mediana del catálogo</a:t>
            </a:r>
            <a:endParaRPr lang="en-US" sz="1400" dirty="0"/>
          </a:p>
        </p:txBody>
      </p:sp>
      <p:sp>
        <p:nvSpPr>
          <p:cNvPr id="8" name="Text 6"/>
          <p:cNvSpPr txBox="1"/>
          <p:nvPr/>
        </p:nvSpPr>
        <p:spPr>
          <a:xfrm>
            <a:off x="548640" y="4434840"/>
            <a:ext cx="1325880" cy="640080"/>
          </a:xfrm>
          <a:prstGeom prst="rect">
            <a:avLst/>
          </a:prstGeom>
          <a:noFill/>
          <a:ln/>
        </p:spPr>
        <p:txBody>
          <a:bodyPr wrap="square" lIns="0" tIns="0" rIns="0" bIns="0" rtlCol="0" anchor="t"/>
          <a:lstStyle/>
          <a:p>
            <a:pPr indent="0" marL="0">
              <a:buNone/>
            </a:pPr>
            <a:r>
              <a:rPr lang="en-US" sz="2400" b="1" dirty="0">
                <a:solidFill>
                  <a:srgbClr val="0B0B0B"/>
                </a:solidFill>
                <a:latin typeface="Arial" pitchFamily="34" charset="0"/>
                <a:ea typeface="Arial" pitchFamily="34" charset="-122"/>
                <a:cs typeface="Arial" pitchFamily="34" charset="-120"/>
              </a:rPr>
              <a:t>1,16×</a:t>
            </a:r>
            <a:endParaRPr lang="en-US" sz="2400" dirty="0"/>
          </a:p>
        </p:txBody>
      </p:sp>
      <p:sp>
        <p:nvSpPr>
          <p:cNvPr id="9" name="Text 7"/>
          <p:cNvSpPr txBox="1"/>
          <p:nvPr/>
        </p:nvSpPr>
        <p:spPr>
          <a:xfrm>
            <a:off x="1965960" y="4462272"/>
            <a:ext cx="2606040" cy="731520"/>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ROI de histórico: la mejor nota y el peor retorno de los géneros con datos financieros</a:t>
            </a:r>
            <a:endParaRPr lang="en-US" sz="1400" dirty="0"/>
          </a:p>
        </p:txBody>
      </p:sp>
      <p:sp>
        <p:nvSpPr>
          <p:cNvPr id="10" name="Text 8"/>
          <p:cNvSpPr txBox="1"/>
          <p:nvPr/>
        </p:nvSpPr>
        <p:spPr>
          <a:xfrm>
            <a:off x="548640" y="5303520"/>
            <a:ext cx="1325880" cy="640080"/>
          </a:xfrm>
          <a:prstGeom prst="rect">
            <a:avLst/>
          </a:prstGeom>
          <a:noFill/>
          <a:ln/>
        </p:spPr>
        <p:txBody>
          <a:bodyPr wrap="square" lIns="0" tIns="0" rIns="0" bIns="0" rtlCol="0" anchor="t"/>
          <a:lstStyle/>
          <a:p>
            <a:pPr indent="0" marL="0">
              <a:buNone/>
            </a:pPr>
            <a:r>
              <a:rPr lang="en-US" sz="2400" b="1" dirty="0">
                <a:solidFill>
                  <a:srgbClr val="0CA30C"/>
                </a:solidFill>
                <a:latin typeface="Arial" pitchFamily="34" charset="0"/>
                <a:ea typeface="Arial" pitchFamily="34" charset="-122"/>
                <a:cs typeface="Arial" pitchFamily="34" charset="-120"/>
              </a:rPr>
              <a:t>4</a:t>
            </a:r>
            <a:endParaRPr lang="en-US" sz="2400" dirty="0"/>
          </a:p>
        </p:txBody>
      </p:sp>
      <p:sp>
        <p:nvSpPr>
          <p:cNvPr id="11" name="Text 9"/>
          <p:cNvSpPr txBox="1"/>
          <p:nvPr/>
        </p:nvSpPr>
        <p:spPr>
          <a:xfrm>
            <a:off x="1965960" y="5330952"/>
            <a:ext cx="2606040" cy="731520"/>
          </a:xfrm>
          <a:prstGeom prst="rect">
            <a:avLst/>
          </a:prstGeom>
          <a:noFill/>
          <a:ln/>
        </p:spPr>
        <p:txBody>
          <a:bodyPr wrap="square" lIns="0" tIns="0" rIns="0" bIns="0" rtlCol="0" anchor="t"/>
          <a:lstStyle/>
          <a:p>
            <a:pPr indent="0" marL="0">
              <a:buNone/>
            </a:pPr>
            <a:r>
              <a:rPr lang="en-US" sz="1400" dirty="0">
                <a:solidFill>
                  <a:srgbClr val="52514E"/>
                </a:solidFill>
                <a:latin typeface="Arial" pitchFamily="34" charset="0"/>
                <a:ea typeface="Arial" pitchFamily="34" charset="-122"/>
                <a:cs typeface="Arial" pitchFamily="34" charset="-120"/>
              </a:rPr>
              <a:t>géneros ganan en recepción y en retorno a la vez</a:t>
            </a:r>
            <a:endParaRPr lang="en-US" sz="1400" dirty="0"/>
          </a:p>
        </p:txBody>
      </p:sp>
      <p:pic>
        <p:nvPicPr>
          <p:cNvPr id="12" name="Image 0" descr="Nota contra ROI mediano por género">    </p:cNvPr>
          <p:cNvPicPr>
            <a:picLocks noChangeAspect="1"/>
          </p:cNvPicPr>
          <p:nvPr/>
        </p:nvPicPr>
        <p:blipFill>
          <a:blip r:embed="rId1"/>
          <a:stretch>
            <a:fillRect/>
          </a:stretch>
        </p:blipFill>
        <p:spPr>
          <a:xfrm>
            <a:off x="4800600" y="1146586"/>
            <a:ext cx="6979615" cy="4381949"/>
          </a:xfrm>
          <a:prstGeom prst="rect">
            <a:avLst/>
          </a:prstGeom>
        </p:spPr>
      </p:pic>
      <p:sp>
        <p:nvSpPr>
          <p:cNvPr id="13" name="Text 10"/>
          <p:cNvSpPr txBox="1"/>
          <p:nvPr/>
        </p:nvSpPr>
        <p:spPr>
          <a:xfrm>
            <a:off x="548640" y="6355080"/>
            <a:ext cx="9997135" cy="274320"/>
          </a:xfrm>
          <a:prstGeom prst="rect">
            <a:avLst/>
          </a:prstGeom>
          <a:noFill/>
          <a:ln/>
        </p:spPr>
        <p:txBody>
          <a:bodyPr wrap="square" lIns="0" tIns="0" rIns="0" bIns="0" rtlCol="0" anchor="ctr"/>
          <a:lstStyle/>
          <a:p>
            <a:pPr indent="0" marL="0">
              <a:buNone/>
            </a:pPr>
            <a:r>
              <a:rPr lang="en-US" sz="1000" dirty="0">
                <a:solidFill>
                  <a:srgbClr val="6E6D68"/>
                </a:solidFill>
                <a:latin typeface="Arial" pitchFamily="34" charset="0"/>
                <a:ea typeface="Arial" pitchFamily="34" charset="-122"/>
                <a:cs typeface="Arial" pitchFamily="34" charset="-120"/>
              </a:rPr>
              <a:t>Sobre las 3.540 películas con presupuesto y recaudación positivos.</a:t>
            </a:r>
            <a:endParaRPr lang="en-US" sz="1000" dirty="0"/>
          </a:p>
        </p:txBody>
      </p:sp>
      <p:sp>
        <p:nvSpPr>
          <p:cNvPr id="14" name="Text 11"/>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6E6D68"/>
                </a:solidFill>
                <a:latin typeface="Arial" pitchFamily="34" charset="0"/>
                <a:ea typeface="Arial" pitchFamily="34" charset="-122"/>
                <a:cs typeface="Arial"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150" kern="0" dirty="0">
                <a:solidFill>
                  <a:srgbClr val="2A78D6"/>
                </a:solidFill>
                <a:latin typeface="Arial" pitchFamily="34" charset="0"/>
                <a:ea typeface="Arial" pitchFamily="34" charset="-122"/>
                <a:cs typeface="Arial" pitchFamily="34" charset="-120"/>
              </a:rPr>
              <a:t>QUÉ IMPLICA PARA EL NEGOCIO</a:t>
            </a:r>
            <a:endParaRPr lang="en-US" sz="1100" dirty="0"/>
          </a:p>
        </p:txBody>
      </p:sp>
      <p:sp>
        <p:nvSpPr>
          <p:cNvPr id="3" name="Text 1"/>
          <p:cNvSpPr txBox="1"/>
          <p:nvPr/>
        </p:nvSpPr>
        <p:spPr>
          <a:xfrm>
            <a:off x="548640" y="868680"/>
            <a:ext cx="11094415" cy="640080"/>
          </a:xfrm>
          <a:prstGeom prst="rect">
            <a:avLst/>
          </a:prstGeom>
          <a:noFill/>
          <a:ln/>
        </p:spPr>
        <p:txBody>
          <a:bodyPr wrap="square" lIns="0" tIns="0" rIns="0" bIns="0" rtlCol="0" anchor="t"/>
          <a:lstStyle/>
          <a:p>
            <a:pPr indent="0" marL="0">
              <a:lnSpc>
                <a:spcPct val="105000"/>
              </a:lnSpc>
              <a:buNone/>
            </a:pPr>
            <a:r>
              <a:rPr lang="en-US" sz="3200" b="1" dirty="0">
                <a:solidFill>
                  <a:srgbClr val="0B0B0B"/>
                </a:solidFill>
                <a:latin typeface="Arial" pitchFamily="34" charset="0"/>
                <a:ea typeface="Arial" pitchFamily="34" charset="-122"/>
                <a:cs typeface="Arial" pitchFamily="34" charset="-120"/>
              </a:rPr>
              <a:t>La recepción predice el retorno. </a:t>
            </a:r>
            <a:pPr indent="0" marL="0">
              <a:lnSpc>
                <a:spcPct val="105000"/>
              </a:lnSpc>
              <a:buNone/>
            </a:pPr>
            <a:r>
              <a:rPr lang="en-US" sz="3200" b="1" dirty="0">
                <a:solidFill>
                  <a:srgbClr val="2A78D6"/>
                </a:solidFill>
                <a:latin typeface="Arial" pitchFamily="34" charset="0"/>
                <a:ea typeface="Arial" pitchFamily="34" charset="-122"/>
                <a:cs typeface="Arial" pitchFamily="34" charset="-120"/>
              </a:rPr>
              <a:t>El presupuesto no.</a:t>
            </a:r>
            <a:endParaRPr lang="en-US" sz="3200" dirty="0"/>
          </a:p>
        </p:txBody>
      </p:sp>
      <p:sp>
        <p:nvSpPr>
          <p:cNvPr id="4" name="Text 2"/>
          <p:cNvSpPr txBox="1"/>
          <p:nvPr/>
        </p:nvSpPr>
        <p:spPr>
          <a:xfrm>
            <a:off x="548640" y="1572768"/>
            <a:ext cx="11094415" cy="365760"/>
          </a:xfrm>
          <a:prstGeom prst="rect">
            <a:avLst/>
          </a:prstGeom>
          <a:noFill/>
          <a:ln/>
        </p:spPr>
        <p:txBody>
          <a:bodyPr wrap="square" lIns="0" tIns="0" rIns="0" bIns="0" rtlCol="0" anchor="ctr"/>
          <a:lstStyle/>
          <a:p>
            <a:pPr indent="0" marL="0">
              <a:buNone/>
            </a:pPr>
            <a:r>
              <a:rPr lang="en-US" sz="1700" dirty="0">
                <a:solidFill>
                  <a:srgbClr val="52514E"/>
                </a:solidFill>
                <a:latin typeface="Arial" pitchFamily="34" charset="0"/>
                <a:ea typeface="Arial" pitchFamily="34" charset="-122"/>
                <a:cs typeface="Arial" pitchFamily="34" charset="-120"/>
              </a:rPr>
              <a:t>De cada 100 películas, cuántas no recuperan lo que costaron:</a:t>
            </a:r>
            <a:endParaRPr lang="en-US" sz="1700" dirty="0"/>
          </a:p>
        </p:txBody>
      </p:sp>
      <p:sp>
        <p:nvSpPr>
          <p:cNvPr id="5" name="Text 3"/>
          <p:cNvSpPr txBox="1"/>
          <p:nvPr/>
        </p:nvSpPr>
        <p:spPr>
          <a:xfrm>
            <a:off x="548640" y="2240280"/>
            <a:ext cx="3566160" cy="320040"/>
          </a:xfrm>
          <a:prstGeom prst="rect">
            <a:avLst/>
          </a:prstGeom>
          <a:noFill/>
          <a:ln/>
        </p:spPr>
        <p:txBody>
          <a:bodyPr wrap="square" lIns="0" tIns="0" rIns="0" bIns="0" rtlCol="0" anchor="ctr"/>
          <a:lstStyle/>
          <a:p>
            <a:pPr indent="0" marL="0">
              <a:buNone/>
            </a:pPr>
            <a:r>
              <a:rPr lang="en-US" sz="1500" b="1" dirty="0">
                <a:solidFill>
                  <a:srgbClr val="0B0B0B"/>
                </a:solidFill>
                <a:latin typeface="Arial" pitchFamily="34" charset="0"/>
                <a:ea typeface="Arial" pitchFamily="34" charset="-122"/>
                <a:cs typeface="Arial" pitchFamily="34" charset="-120"/>
              </a:rPr>
              <a:t>Nota bajo 6,0</a:t>
            </a:r>
            <a:endParaRPr lang="en-US" sz="1500" dirty="0"/>
          </a:p>
        </p:txBody>
      </p:sp>
      <p:sp>
        <p:nvSpPr>
          <p:cNvPr id="6" name="Shape 4"/>
          <p:cNvSpPr/>
          <p:nvPr/>
        </p:nvSpPr>
        <p:spPr>
          <a:xfrm>
            <a:off x="548640" y="2697480"/>
            <a:ext cx="182880" cy="182880"/>
          </a:xfrm>
          <a:prstGeom prst="ellipse">
            <a:avLst/>
          </a:prstGeom>
          <a:solidFill>
            <a:srgbClr val="D03B3B"/>
          </a:solidFill>
          <a:ln w="12700">
            <a:solidFill>
              <a:srgbClr val="D03B3B"/>
            </a:solidFill>
            <a:prstDash val="solid"/>
          </a:ln>
        </p:spPr>
      </p:sp>
      <p:sp>
        <p:nvSpPr>
          <p:cNvPr id="7" name="Shape 5"/>
          <p:cNvSpPr/>
          <p:nvPr/>
        </p:nvSpPr>
        <p:spPr>
          <a:xfrm>
            <a:off x="790956" y="2697480"/>
            <a:ext cx="182880" cy="182880"/>
          </a:xfrm>
          <a:prstGeom prst="ellipse">
            <a:avLst/>
          </a:prstGeom>
          <a:solidFill>
            <a:srgbClr val="D03B3B"/>
          </a:solidFill>
          <a:ln w="12700">
            <a:solidFill>
              <a:srgbClr val="D03B3B"/>
            </a:solidFill>
            <a:prstDash val="solid"/>
          </a:ln>
        </p:spPr>
      </p:sp>
      <p:sp>
        <p:nvSpPr>
          <p:cNvPr id="8" name="Shape 6"/>
          <p:cNvSpPr/>
          <p:nvPr/>
        </p:nvSpPr>
        <p:spPr>
          <a:xfrm>
            <a:off x="1033272" y="2697480"/>
            <a:ext cx="182880" cy="182880"/>
          </a:xfrm>
          <a:prstGeom prst="ellipse">
            <a:avLst/>
          </a:prstGeom>
          <a:solidFill>
            <a:srgbClr val="D03B3B"/>
          </a:solidFill>
          <a:ln w="12700">
            <a:solidFill>
              <a:srgbClr val="D03B3B"/>
            </a:solidFill>
            <a:prstDash val="solid"/>
          </a:ln>
        </p:spPr>
      </p:sp>
      <p:sp>
        <p:nvSpPr>
          <p:cNvPr id="9" name="Shape 7"/>
          <p:cNvSpPr/>
          <p:nvPr/>
        </p:nvSpPr>
        <p:spPr>
          <a:xfrm>
            <a:off x="1275588" y="2697480"/>
            <a:ext cx="182880" cy="182880"/>
          </a:xfrm>
          <a:prstGeom prst="ellipse">
            <a:avLst/>
          </a:prstGeom>
          <a:solidFill>
            <a:srgbClr val="D03B3B"/>
          </a:solidFill>
          <a:ln w="12700">
            <a:solidFill>
              <a:srgbClr val="D03B3B"/>
            </a:solidFill>
            <a:prstDash val="solid"/>
          </a:ln>
        </p:spPr>
      </p:sp>
      <p:sp>
        <p:nvSpPr>
          <p:cNvPr id="10" name="Shape 8"/>
          <p:cNvSpPr/>
          <p:nvPr/>
        </p:nvSpPr>
        <p:spPr>
          <a:xfrm>
            <a:off x="1517904" y="2697480"/>
            <a:ext cx="182880" cy="182880"/>
          </a:xfrm>
          <a:prstGeom prst="ellipse">
            <a:avLst/>
          </a:prstGeom>
          <a:solidFill>
            <a:srgbClr val="D03B3B"/>
          </a:solidFill>
          <a:ln w="12700">
            <a:solidFill>
              <a:srgbClr val="D03B3B"/>
            </a:solidFill>
            <a:prstDash val="solid"/>
          </a:ln>
        </p:spPr>
      </p:sp>
      <p:sp>
        <p:nvSpPr>
          <p:cNvPr id="11" name="Shape 9"/>
          <p:cNvSpPr/>
          <p:nvPr/>
        </p:nvSpPr>
        <p:spPr>
          <a:xfrm>
            <a:off x="1760220" y="2697480"/>
            <a:ext cx="182880" cy="182880"/>
          </a:xfrm>
          <a:prstGeom prst="ellipse">
            <a:avLst/>
          </a:prstGeom>
          <a:solidFill>
            <a:srgbClr val="D03B3B"/>
          </a:solidFill>
          <a:ln w="12700">
            <a:solidFill>
              <a:srgbClr val="D03B3B"/>
            </a:solidFill>
            <a:prstDash val="solid"/>
          </a:ln>
        </p:spPr>
      </p:sp>
      <p:sp>
        <p:nvSpPr>
          <p:cNvPr id="12" name="Shape 10"/>
          <p:cNvSpPr/>
          <p:nvPr/>
        </p:nvSpPr>
        <p:spPr>
          <a:xfrm>
            <a:off x="2002536" y="2697480"/>
            <a:ext cx="182880" cy="182880"/>
          </a:xfrm>
          <a:prstGeom prst="ellipse">
            <a:avLst/>
          </a:prstGeom>
          <a:solidFill>
            <a:srgbClr val="D03B3B"/>
          </a:solidFill>
          <a:ln w="12700">
            <a:solidFill>
              <a:srgbClr val="D03B3B"/>
            </a:solidFill>
            <a:prstDash val="solid"/>
          </a:ln>
        </p:spPr>
      </p:sp>
      <p:sp>
        <p:nvSpPr>
          <p:cNvPr id="13" name="Shape 11"/>
          <p:cNvSpPr/>
          <p:nvPr/>
        </p:nvSpPr>
        <p:spPr>
          <a:xfrm>
            <a:off x="2244852" y="2697480"/>
            <a:ext cx="182880" cy="182880"/>
          </a:xfrm>
          <a:prstGeom prst="ellipse">
            <a:avLst/>
          </a:prstGeom>
          <a:solidFill>
            <a:srgbClr val="D03B3B"/>
          </a:solidFill>
          <a:ln w="12700">
            <a:solidFill>
              <a:srgbClr val="D03B3B"/>
            </a:solidFill>
            <a:prstDash val="solid"/>
          </a:ln>
        </p:spPr>
      </p:sp>
      <p:sp>
        <p:nvSpPr>
          <p:cNvPr id="14" name="Shape 12"/>
          <p:cNvSpPr/>
          <p:nvPr/>
        </p:nvSpPr>
        <p:spPr>
          <a:xfrm>
            <a:off x="2487168" y="2697480"/>
            <a:ext cx="182880" cy="182880"/>
          </a:xfrm>
          <a:prstGeom prst="ellipse">
            <a:avLst/>
          </a:prstGeom>
          <a:solidFill>
            <a:srgbClr val="D03B3B"/>
          </a:solidFill>
          <a:ln w="12700">
            <a:solidFill>
              <a:srgbClr val="D03B3B"/>
            </a:solidFill>
            <a:prstDash val="solid"/>
          </a:ln>
        </p:spPr>
      </p:sp>
      <p:sp>
        <p:nvSpPr>
          <p:cNvPr id="15" name="Shape 13"/>
          <p:cNvSpPr/>
          <p:nvPr/>
        </p:nvSpPr>
        <p:spPr>
          <a:xfrm>
            <a:off x="2729484" y="2697480"/>
            <a:ext cx="182880" cy="182880"/>
          </a:xfrm>
          <a:prstGeom prst="ellipse">
            <a:avLst/>
          </a:prstGeom>
          <a:solidFill>
            <a:srgbClr val="D03B3B"/>
          </a:solidFill>
          <a:ln w="12700">
            <a:solidFill>
              <a:srgbClr val="D03B3B"/>
            </a:solidFill>
            <a:prstDash val="solid"/>
          </a:ln>
        </p:spPr>
      </p:sp>
      <p:sp>
        <p:nvSpPr>
          <p:cNvPr id="16" name="Shape 14"/>
          <p:cNvSpPr/>
          <p:nvPr/>
        </p:nvSpPr>
        <p:spPr>
          <a:xfrm>
            <a:off x="548640" y="2939796"/>
            <a:ext cx="182880" cy="182880"/>
          </a:xfrm>
          <a:prstGeom prst="ellipse">
            <a:avLst/>
          </a:prstGeom>
          <a:solidFill>
            <a:srgbClr val="D03B3B"/>
          </a:solidFill>
          <a:ln w="12700">
            <a:solidFill>
              <a:srgbClr val="D03B3B"/>
            </a:solidFill>
            <a:prstDash val="solid"/>
          </a:ln>
        </p:spPr>
      </p:sp>
      <p:sp>
        <p:nvSpPr>
          <p:cNvPr id="17" name="Shape 15"/>
          <p:cNvSpPr/>
          <p:nvPr/>
        </p:nvSpPr>
        <p:spPr>
          <a:xfrm>
            <a:off x="790956" y="2939796"/>
            <a:ext cx="182880" cy="182880"/>
          </a:xfrm>
          <a:prstGeom prst="ellipse">
            <a:avLst/>
          </a:prstGeom>
          <a:solidFill>
            <a:srgbClr val="D03B3B"/>
          </a:solidFill>
          <a:ln w="12700">
            <a:solidFill>
              <a:srgbClr val="D03B3B"/>
            </a:solidFill>
            <a:prstDash val="solid"/>
          </a:ln>
        </p:spPr>
      </p:sp>
      <p:sp>
        <p:nvSpPr>
          <p:cNvPr id="18" name="Shape 16"/>
          <p:cNvSpPr/>
          <p:nvPr/>
        </p:nvSpPr>
        <p:spPr>
          <a:xfrm>
            <a:off x="1033272" y="2939796"/>
            <a:ext cx="182880" cy="182880"/>
          </a:xfrm>
          <a:prstGeom prst="ellipse">
            <a:avLst/>
          </a:prstGeom>
          <a:solidFill>
            <a:srgbClr val="D03B3B"/>
          </a:solidFill>
          <a:ln w="12700">
            <a:solidFill>
              <a:srgbClr val="D03B3B"/>
            </a:solidFill>
            <a:prstDash val="solid"/>
          </a:ln>
        </p:spPr>
      </p:sp>
      <p:sp>
        <p:nvSpPr>
          <p:cNvPr id="19" name="Shape 17"/>
          <p:cNvSpPr/>
          <p:nvPr/>
        </p:nvSpPr>
        <p:spPr>
          <a:xfrm>
            <a:off x="1275588" y="2939796"/>
            <a:ext cx="182880" cy="182880"/>
          </a:xfrm>
          <a:prstGeom prst="ellipse">
            <a:avLst/>
          </a:prstGeom>
          <a:solidFill>
            <a:srgbClr val="D03B3B"/>
          </a:solidFill>
          <a:ln w="12700">
            <a:solidFill>
              <a:srgbClr val="D03B3B"/>
            </a:solidFill>
            <a:prstDash val="solid"/>
          </a:ln>
        </p:spPr>
      </p:sp>
      <p:sp>
        <p:nvSpPr>
          <p:cNvPr id="20" name="Shape 18"/>
          <p:cNvSpPr/>
          <p:nvPr/>
        </p:nvSpPr>
        <p:spPr>
          <a:xfrm>
            <a:off x="1517904" y="2939796"/>
            <a:ext cx="182880" cy="182880"/>
          </a:xfrm>
          <a:prstGeom prst="ellipse">
            <a:avLst/>
          </a:prstGeom>
          <a:solidFill>
            <a:srgbClr val="D03B3B"/>
          </a:solidFill>
          <a:ln w="12700">
            <a:solidFill>
              <a:srgbClr val="D03B3B"/>
            </a:solidFill>
            <a:prstDash val="solid"/>
          </a:ln>
        </p:spPr>
      </p:sp>
      <p:sp>
        <p:nvSpPr>
          <p:cNvPr id="21" name="Shape 19"/>
          <p:cNvSpPr/>
          <p:nvPr/>
        </p:nvSpPr>
        <p:spPr>
          <a:xfrm>
            <a:off x="1760220" y="2939796"/>
            <a:ext cx="182880" cy="182880"/>
          </a:xfrm>
          <a:prstGeom prst="ellipse">
            <a:avLst/>
          </a:prstGeom>
          <a:solidFill>
            <a:srgbClr val="D03B3B"/>
          </a:solidFill>
          <a:ln w="12700">
            <a:solidFill>
              <a:srgbClr val="D03B3B"/>
            </a:solidFill>
            <a:prstDash val="solid"/>
          </a:ln>
        </p:spPr>
      </p:sp>
      <p:sp>
        <p:nvSpPr>
          <p:cNvPr id="22" name="Shape 20"/>
          <p:cNvSpPr/>
          <p:nvPr/>
        </p:nvSpPr>
        <p:spPr>
          <a:xfrm>
            <a:off x="2002536" y="2939796"/>
            <a:ext cx="182880" cy="182880"/>
          </a:xfrm>
          <a:prstGeom prst="ellipse">
            <a:avLst/>
          </a:prstGeom>
          <a:solidFill>
            <a:srgbClr val="D03B3B"/>
          </a:solidFill>
          <a:ln w="12700">
            <a:solidFill>
              <a:srgbClr val="D03B3B"/>
            </a:solidFill>
            <a:prstDash val="solid"/>
          </a:ln>
        </p:spPr>
      </p:sp>
      <p:sp>
        <p:nvSpPr>
          <p:cNvPr id="23" name="Shape 21"/>
          <p:cNvSpPr/>
          <p:nvPr/>
        </p:nvSpPr>
        <p:spPr>
          <a:xfrm>
            <a:off x="2244852" y="2939796"/>
            <a:ext cx="182880" cy="182880"/>
          </a:xfrm>
          <a:prstGeom prst="ellipse">
            <a:avLst/>
          </a:prstGeom>
          <a:solidFill>
            <a:srgbClr val="D03B3B"/>
          </a:solidFill>
          <a:ln w="12700">
            <a:solidFill>
              <a:srgbClr val="D03B3B"/>
            </a:solidFill>
            <a:prstDash val="solid"/>
          </a:ln>
        </p:spPr>
      </p:sp>
      <p:sp>
        <p:nvSpPr>
          <p:cNvPr id="24" name="Shape 22"/>
          <p:cNvSpPr/>
          <p:nvPr/>
        </p:nvSpPr>
        <p:spPr>
          <a:xfrm>
            <a:off x="2487168" y="2939796"/>
            <a:ext cx="182880" cy="182880"/>
          </a:xfrm>
          <a:prstGeom prst="ellipse">
            <a:avLst/>
          </a:prstGeom>
          <a:solidFill>
            <a:srgbClr val="D03B3B"/>
          </a:solidFill>
          <a:ln w="12700">
            <a:solidFill>
              <a:srgbClr val="D03B3B"/>
            </a:solidFill>
            <a:prstDash val="solid"/>
          </a:ln>
        </p:spPr>
      </p:sp>
      <p:sp>
        <p:nvSpPr>
          <p:cNvPr id="25" name="Shape 23"/>
          <p:cNvSpPr/>
          <p:nvPr/>
        </p:nvSpPr>
        <p:spPr>
          <a:xfrm>
            <a:off x="2729484" y="2939796"/>
            <a:ext cx="182880" cy="182880"/>
          </a:xfrm>
          <a:prstGeom prst="ellipse">
            <a:avLst/>
          </a:prstGeom>
          <a:solidFill>
            <a:srgbClr val="D03B3B"/>
          </a:solidFill>
          <a:ln w="12700">
            <a:solidFill>
              <a:srgbClr val="D03B3B"/>
            </a:solidFill>
            <a:prstDash val="solid"/>
          </a:ln>
        </p:spPr>
      </p:sp>
      <p:sp>
        <p:nvSpPr>
          <p:cNvPr id="26" name="Shape 24"/>
          <p:cNvSpPr/>
          <p:nvPr/>
        </p:nvSpPr>
        <p:spPr>
          <a:xfrm>
            <a:off x="548640" y="3182112"/>
            <a:ext cx="182880" cy="182880"/>
          </a:xfrm>
          <a:prstGeom prst="ellipse">
            <a:avLst/>
          </a:prstGeom>
          <a:solidFill>
            <a:srgbClr val="D03B3B"/>
          </a:solidFill>
          <a:ln w="12700">
            <a:solidFill>
              <a:srgbClr val="D03B3B"/>
            </a:solidFill>
            <a:prstDash val="solid"/>
          </a:ln>
        </p:spPr>
      </p:sp>
      <p:sp>
        <p:nvSpPr>
          <p:cNvPr id="27" name="Shape 25"/>
          <p:cNvSpPr/>
          <p:nvPr/>
        </p:nvSpPr>
        <p:spPr>
          <a:xfrm>
            <a:off x="790956" y="3182112"/>
            <a:ext cx="182880" cy="182880"/>
          </a:xfrm>
          <a:prstGeom prst="ellipse">
            <a:avLst/>
          </a:prstGeom>
          <a:solidFill>
            <a:srgbClr val="D03B3B"/>
          </a:solidFill>
          <a:ln w="12700">
            <a:solidFill>
              <a:srgbClr val="D03B3B"/>
            </a:solidFill>
            <a:prstDash val="solid"/>
          </a:ln>
        </p:spPr>
      </p:sp>
      <p:sp>
        <p:nvSpPr>
          <p:cNvPr id="28" name="Shape 26"/>
          <p:cNvSpPr/>
          <p:nvPr/>
        </p:nvSpPr>
        <p:spPr>
          <a:xfrm>
            <a:off x="1033272" y="3182112"/>
            <a:ext cx="182880" cy="182880"/>
          </a:xfrm>
          <a:prstGeom prst="ellipse">
            <a:avLst/>
          </a:prstGeom>
          <a:solidFill>
            <a:srgbClr val="D03B3B"/>
          </a:solidFill>
          <a:ln w="12700">
            <a:solidFill>
              <a:srgbClr val="D03B3B"/>
            </a:solidFill>
            <a:prstDash val="solid"/>
          </a:ln>
        </p:spPr>
      </p:sp>
      <p:sp>
        <p:nvSpPr>
          <p:cNvPr id="29" name="Shape 27"/>
          <p:cNvSpPr/>
          <p:nvPr/>
        </p:nvSpPr>
        <p:spPr>
          <a:xfrm>
            <a:off x="1275588" y="3182112"/>
            <a:ext cx="182880" cy="182880"/>
          </a:xfrm>
          <a:prstGeom prst="ellipse">
            <a:avLst/>
          </a:prstGeom>
          <a:solidFill>
            <a:srgbClr val="D03B3B"/>
          </a:solidFill>
          <a:ln w="12700">
            <a:solidFill>
              <a:srgbClr val="D03B3B"/>
            </a:solidFill>
            <a:prstDash val="solid"/>
          </a:ln>
        </p:spPr>
      </p:sp>
      <p:sp>
        <p:nvSpPr>
          <p:cNvPr id="30" name="Shape 28"/>
          <p:cNvSpPr/>
          <p:nvPr/>
        </p:nvSpPr>
        <p:spPr>
          <a:xfrm>
            <a:off x="1517904" y="3182112"/>
            <a:ext cx="182880" cy="182880"/>
          </a:xfrm>
          <a:prstGeom prst="ellipse">
            <a:avLst/>
          </a:prstGeom>
          <a:solidFill>
            <a:srgbClr val="D03B3B"/>
          </a:solidFill>
          <a:ln w="12700">
            <a:solidFill>
              <a:srgbClr val="D03B3B"/>
            </a:solidFill>
            <a:prstDash val="solid"/>
          </a:ln>
        </p:spPr>
      </p:sp>
      <p:sp>
        <p:nvSpPr>
          <p:cNvPr id="31" name="Shape 29"/>
          <p:cNvSpPr/>
          <p:nvPr/>
        </p:nvSpPr>
        <p:spPr>
          <a:xfrm>
            <a:off x="1760220" y="3182112"/>
            <a:ext cx="182880" cy="182880"/>
          </a:xfrm>
          <a:prstGeom prst="ellipse">
            <a:avLst/>
          </a:prstGeom>
          <a:solidFill>
            <a:srgbClr val="D03B3B"/>
          </a:solidFill>
          <a:ln w="12700">
            <a:solidFill>
              <a:srgbClr val="D03B3B"/>
            </a:solidFill>
            <a:prstDash val="solid"/>
          </a:ln>
        </p:spPr>
      </p:sp>
      <p:sp>
        <p:nvSpPr>
          <p:cNvPr id="32" name="Shape 30"/>
          <p:cNvSpPr/>
          <p:nvPr/>
        </p:nvSpPr>
        <p:spPr>
          <a:xfrm>
            <a:off x="2002536" y="3182112"/>
            <a:ext cx="182880" cy="182880"/>
          </a:xfrm>
          <a:prstGeom prst="ellipse">
            <a:avLst/>
          </a:prstGeom>
          <a:solidFill>
            <a:srgbClr val="D03B3B"/>
          </a:solidFill>
          <a:ln w="12700">
            <a:solidFill>
              <a:srgbClr val="D03B3B"/>
            </a:solidFill>
            <a:prstDash val="solid"/>
          </a:ln>
        </p:spPr>
      </p:sp>
      <p:sp>
        <p:nvSpPr>
          <p:cNvPr id="33" name="Shape 31"/>
          <p:cNvSpPr/>
          <p:nvPr/>
        </p:nvSpPr>
        <p:spPr>
          <a:xfrm>
            <a:off x="2244852" y="3182112"/>
            <a:ext cx="182880" cy="182880"/>
          </a:xfrm>
          <a:prstGeom prst="ellipse">
            <a:avLst/>
          </a:prstGeom>
          <a:solidFill>
            <a:srgbClr val="D03B3B"/>
          </a:solidFill>
          <a:ln w="12700">
            <a:solidFill>
              <a:srgbClr val="D03B3B"/>
            </a:solidFill>
            <a:prstDash val="solid"/>
          </a:ln>
        </p:spPr>
      </p:sp>
      <p:sp>
        <p:nvSpPr>
          <p:cNvPr id="34" name="Shape 32"/>
          <p:cNvSpPr/>
          <p:nvPr/>
        </p:nvSpPr>
        <p:spPr>
          <a:xfrm>
            <a:off x="2487168" y="3182112"/>
            <a:ext cx="182880" cy="182880"/>
          </a:xfrm>
          <a:prstGeom prst="ellipse">
            <a:avLst/>
          </a:prstGeom>
          <a:solidFill>
            <a:srgbClr val="D03B3B"/>
          </a:solidFill>
          <a:ln w="12700">
            <a:solidFill>
              <a:srgbClr val="D03B3B"/>
            </a:solidFill>
            <a:prstDash val="solid"/>
          </a:ln>
        </p:spPr>
      </p:sp>
      <p:sp>
        <p:nvSpPr>
          <p:cNvPr id="35" name="Shape 33"/>
          <p:cNvSpPr/>
          <p:nvPr/>
        </p:nvSpPr>
        <p:spPr>
          <a:xfrm>
            <a:off x="2729484" y="3182112"/>
            <a:ext cx="182880" cy="182880"/>
          </a:xfrm>
          <a:prstGeom prst="ellipse">
            <a:avLst/>
          </a:prstGeom>
          <a:solidFill>
            <a:srgbClr val="D03B3B"/>
          </a:solidFill>
          <a:ln w="12700">
            <a:solidFill>
              <a:srgbClr val="D03B3B"/>
            </a:solidFill>
            <a:prstDash val="solid"/>
          </a:ln>
        </p:spPr>
      </p:sp>
      <p:sp>
        <p:nvSpPr>
          <p:cNvPr id="36" name="Shape 34"/>
          <p:cNvSpPr/>
          <p:nvPr/>
        </p:nvSpPr>
        <p:spPr>
          <a:xfrm>
            <a:off x="548640" y="3424428"/>
            <a:ext cx="182880" cy="182880"/>
          </a:xfrm>
          <a:prstGeom prst="ellipse">
            <a:avLst/>
          </a:prstGeom>
          <a:solidFill>
            <a:srgbClr val="D03B3B"/>
          </a:solidFill>
          <a:ln w="12700">
            <a:solidFill>
              <a:srgbClr val="D03B3B"/>
            </a:solidFill>
            <a:prstDash val="solid"/>
          </a:ln>
        </p:spPr>
      </p:sp>
      <p:sp>
        <p:nvSpPr>
          <p:cNvPr id="37" name="Shape 35"/>
          <p:cNvSpPr/>
          <p:nvPr/>
        </p:nvSpPr>
        <p:spPr>
          <a:xfrm>
            <a:off x="790956" y="3424428"/>
            <a:ext cx="182880" cy="182880"/>
          </a:xfrm>
          <a:prstGeom prst="ellipse">
            <a:avLst/>
          </a:prstGeom>
          <a:solidFill>
            <a:srgbClr val="D03B3B"/>
          </a:solidFill>
          <a:ln w="12700">
            <a:solidFill>
              <a:srgbClr val="D03B3B"/>
            </a:solidFill>
            <a:prstDash val="solid"/>
          </a:ln>
        </p:spPr>
      </p:sp>
      <p:sp>
        <p:nvSpPr>
          <p:cNvPr id="38" name="Shape 36"/>
          <p:cNvSpPr/>
          <p:nvPr/>
        </p:nvSpPr>
        <p:spPr>
          <a:xfrm>
            <a:off x="1033272" y="3424428"/>
            <a:ext cx="182880" cy="182880"/>
          </a:xfrm>
          <a:prstGeom prst="ellipse">
            <a:avLst/>
          </a:prstGeom>
          <a:solidFill>
            <a:srgbClr val="D03B3B"/>
          </a:solidFill>
          <a:ln w="12700">
            <a:solidFill>
              <a:srgbClr val="D03B3B"/>
            </a:solidFill>
            <a:prstDash val="solid"/>
          </a:ln>
        </p:spPr>
      </p:sp>
      <p:sp>
        <p:nvSpPr>
          <p:cNvPr id="39" name="Shape 37"/>
          <p:cNvSpPr/>
          <p:nvPr/>
        </p:nvSpPr>
        <p:spPr>
          <a:xfrm>
            <a:off x="1275588" y="3424428"/>
            <a:ext cx="182880" cy="182880"/>
          </a:xfrm>
          <a:prstGeom prst="ellipse">
            <a:avLst/>
          </a:prstGeom>
          <a:solidFill>
            <a:srgbClr val="D03B3B"/>
          </a:solidFill>
          <a:ln w="12700">
            <a:solidFill>
              <a:srgbClr val="D03B3B"/>
            </a:solidFill>
            <a:prstDash val="solid"/>
          </a:ln>
        </p:spPr>
      </p:sp>
      <p:sp>
        <p:nvSpPr>
          <p:cNvPr id="40" name="Shape 38"/>
          <p:cNvSpPr/>
          <p:nvPr/>
        </p:nvSpPr>
        <p:spPr>
          <a:xfrm>
            <a:off x="1517904" y="3424428"/>
            <a:ext cx="182880" cy="182880"/>
          </a:xfrm>
          <a:prstGeom prst="ellipse">
            <a:avLst/>
          </a:prstGeom>
          <a:solidFill>
            <a:srgbClr val="D03B3B"/>
          </a:solidFill>
          <a:ln w="12700">
            <a:solidFill>
              <a:srgbClr val="D03B3B"/>
            </a:solidFill>
            <a:prstDash val="solid"/>
          </a:ln>
        </p:spPr>
      </p:sp>
      <p:sp>
        <p:nvSpPr>
          <p:cNvPr id="41" name="Shape 39"/>
          <p:cNvSpPr/>
          <p:nvPr/>
        </p:nvSpPr>
        <p:spPr>
          <a:xfrm>
            <a:off x="1760220" y="3424428"/>
            <a:ext cx="182880" cy="182880"/>
          </a:xfrm>
          <a:prstGeom prst="ellipse">
            <a:avLst/>
          </a:prstGeom>
          <a:solidFill>
            <a:srgbClr val="D03B3B"/>
          </a:solidFill>
          <a:ln w="12700">
            <a:solidFill>
              <a:srgbClr val="D03B3B"/>
            </a:solidFill>
            <a:prstDash val="solid"/>
          </a:ln>
        </p:spPr>
      </p:sp>
      <p:sp>
        <p:nvSpPr>
          <p:cNvPr id="42" name="Shape 40"/>
          <p:cNvSpPr/>
          <p:nvPr/>
        </p:nvSpPr>
        <p:spPr>
          <a:xfrm>
            <a:off x="2002536" y="3424428"/>
            <a:ext cx="182880" cy="182880"/>
          </a:xfrm>
          <a:prstGeom prst="ellipse">
            <a:avLst/>
          </a:prstGeom>
          <a:solidFill>
            <a:srgbClr val="D03B3B"/>
          </a:solidFill>
          <a:ln w="12700">
            <a:solidFill>
              <a:srgbClr val="D03B3B"/>
            </a:solidFill>
            <a:prstDash val="solid"/>
          </a:ln>
        </p:spPr>
      </p:sp>
      <p:sp>
        <p:nvSpPr>
          <p:cNvPr id="43" name="Shape 41"/>
          <p:cNvSpPr/>
          <p:nvPr/>
        </p:nvSpPr>
        <p:spPr>
          <a:xfrm>
            <a:off x="2244852" y="3424428"/>
            <a:ext cx="182880" cy="182880"/>
          </a:xfrm>
          <a:prstGeom prst="ellipse">
            <a:avLst/>
          </a:prstGeom>
          <a:solidFill>
            <a:srgbClr val="D03B3B"/>
          </a:solidFill>
          <a:ln w="12700">
            <a:solidFill>
              <a:srgbClr val="D03B3B"/>
            </a:solidFill>
            <a:prstDash val="solid"/>
          </a:ln>
        </p:spPr>
      </p:sp>
      <p:sp>
        <p:nvSpPr>
          <p:cNvPr id="44" name="Shape 42"/>
          <p:cNvSpPr/>
          <p:nvPr/>
        </p:nvSpPr>
        <p:spPr>
          <a:xfrm>
            <a:off x="2487168" y="3424428"/>
            <a:ext cx="182880" cy="182880"/>
          </a:xfrm>
          <a:prstGeom prst="ellipse">
            <a:avLst/>
          </a:prstGeom>
          <a:solidFill>
            <a:srgbClr val="D03B3B"/>
          </a:solidFill>
          <a:ln w="12700">
            <a:solidFill>
              <a:srgbClr val="D03B3B"/>
            </a:solidFill>
            <a:prstDash val="solid"/>
          </a:ln>
        </p:spPr>
      </p:sp>
      <p:sp>
        <p:nvSpPr>
          <p:cNvPr id="45" name="Shape 43"/>
          <p:cNvSpPr/>
          <p:nvPr/>
        </p:nvSpPr>
        <p:spPr>
          <a:xfrm>
            <a:off x="2729484" y="3424428"/>
            <a:ext cx="182880" cy="182880"/>
          </a:xfrm>
          <a:prstGeom prst="ellipse">
            <a:avLst/>
          </a:prstGeom>
          <a:solidFill>
            <a:srgbClr val="D03B3B"/>
          </a:solidFill>
          <a:ln w="12700">
            <a:solidFill>
              <a:srgbClr val="D03B3B"/>
            </a:solidFill>
            <a:prstDash val="solid"/>
          </a:ln>
        </p:spPr>
      </p:sp>
      <p:sp>
        <p:nvSpPr>
          <p:cNvPr id="46" name="Shape 44"/>
          <p:cNvSpPr/>
          <p:nvPr/>
        </p:nvSpPr>
        <p:spPr>
          <a:xfrm>
            <a:off x="548640" y="3666744"/>
            <a:ext cx="182880" cy="182880"/>
          </a:xfrm>
          <a:prstGeom prst="ellipse">
            <a:avLst/>
          </a:prstGeom>
          <a:solidFill>
            <a:srgbClr val="D03B3B"/>
          </a:solidFill>
          <a:ln w="12700">
            <a:solidFill>
              <a:srgbClr val="D03B3B"/>
            </a:solidFill>
            <a:prstDash val="solid"/>
          </a:ln>
        </p:spPr>
      </p:sp>
      <p:sp>
        <p:nvSpPr>
          <p:cNvPr id="47" name="Shape 45"/>
          <p:cNvSpPr/>
          <p:nvPr/>
        </p:nvSpPr>
        <p:spPr>
          <a:xfrm>
            <a:off x="790956" y="3666744"/>
            <a:ext cx="182880" cy="182880"/>
          </a:xfrm>
          <a:prstGeom prst="ellipse">
            <a:avLst/>
          </a:prstGeom>
          <a:solidFill>
            <a:srgbClr val="D03B3B"/>
          </a:solidFill>
          <a:ln w="12700">
            <a:solidFill>
              <a:srgbClr val="D03B3B"/>
            </a:solidFill>
            <a:prstDash val="solid"/>
          </a:ln>
        </p:spPr>
      </p:sp>
      <p:sp>
        <p:nvSpPr>
          <p:cNvPr id="48" name="Shape 46"/>
          <p:cNvSpPr/>
          <p:nvPr/>
        </p:nvSpPr>
        <p:spPr>
          <a:xfrm>
            <a:off x="1033272" y="3666744"/>
            <a:ext cx="182880" cy="182880"/>
          </a:xfrm>
          <a:prstGeom prst="ellipse">
            <a:avLst/>
          </a:prstGeom>
          <a:solidFill>
            <a:srgbClr val="D03B3B"/>
          </a:solidFill>
          <a:ln w="12700">
            <a:solidFill>
              <a:srgbClr val="D03B3B"/>
            </a:solidFill>
            <a:prstDash val="solid"/>
          </a:ln>
        </p:spPr>
      </p:sp>
      <p:sp>
        <p:nvSpPr>
          <p:cNvPr id="49" name="Shape 47"/>
          <p:cNvSpPr/>
          <p:nvPr/>
        </p:nvSpPr>
        <p:spPr>
          <a:xfrm>
            <a:off x="1275588" y="3666744"/>
            <a:ext cx="182880" cy="182880"/>
          </a:xfrm>
          <a:prstGeom prst="ellipse">
            <a:avLst/>
          </a:prstGeom>
          <a:solidFill>
            <a:srgbClr val="D03B3B"/>
          </a:solidFill>
          <a:ln w="12700">
            <a:solidFill>
              <a:srgbClr val="D03B3B"/>
            </a:solidFill>
            <a:prstDash val="solid"/>
          </a:ln>
        </p:spPr>
      </p:sp>
      <p:sp>
        <p:nvSpPr>
          <p:cNvPr id="50" name="Shape 48"/>
          <p:cNvSpPr/>
          <p:nvPr/>
        </p:nvSpPr>
        <p:spPr>
          <a:xfrm>
            <a:off x="1517904" y="3666744"/>
            <a:ext cx="182880" cy="182880"/>
          </a:xfrm>
          <a:prstGeom prst="ellipse">
            <a:avLst/>
          </a:prstGeom>
          <a:solidFill>
            <a:srgbClr val="D03B3B"/>
          </a:solidFill>
          <a:ln w="12700">
            <a:solidFill>
              <a:srgbClr val="D03B3B"/>
            </a:solidFill>
            <a:prstDash val="solid"/>
          </a:ln>
        </p:spPr>
      </p:sp>
      <p:sp>
        <p:nvSpPr>
          <p:cNvPr id="51" name="Shape 49"/>
          <p:cNvSpPr/>
          <p:nvPr/>
        </p:nvSpPr>
        <p:spPr>
          <a:xfrm>
            <a:off x="1760220" y="3666744"/>
            <a:ext cx="182880" cy="182880"/>
          </a:xfrm>
          <a:prstGeom prst="ellipse">
            <a:avLst/>
          </a:prstGeom>
          <a:solidFill>
            <a:srgbClr val="D03B3B"/>
          </a:solidFill>
          <a:ln w="12700">
            <a:solidFill>
              <a:srgbClr val="D03B3B"/>
            </a:solidFill>
            <a:prstDash val="solid"/>
          </a:ln>
        </p:spPr>
      </p:sp>
      <p:sp>
        <p:nvSpPr>
          <p:cNvPr id="52" name="Shape 50"/>
          <p:cNvSpPr/>
          <p:nvPr/>
        </p:nvSpPr>
        <p:spPr>
          <a:xfrm>
            <a:off x="2002536" y="3666744"/>
            <a:ext cx="182880" cy="182880"/>
          </a:xfrm>
          <a:prstGeom prst="ellipse">
            <a:avLst/>
          </a:prstGeom>
          <a:solidFill>
            <a:srgbClr val="D03B3B"/>
          </a:solidFill>
          <a:ln w="12700">
            <a:solidFill>
              <a:srgbClr val="D03B3B"/>
            </a:solidFill>
            <a:prstDash val="solid"/>
          </a:ln>
        </p:spPr>
      </p:sp>
      <p:sp>
        <p:nvSpPr>
          <p:cNvPr id="53" name="Shape 51"/>
          <p:cNvSpPr/>
          <p:nvPr/>
        </p:nvSpPr>
        <p:spPr>
          <a:xfrm>
            <a:off x="2244852" y="3666744"/>
            <a:ext cx="182880" cy="182880"/>
          </a:xfrm>
          <a:prstGeom prst="ellipse">
            <a:avLst/>
          </a:prstGeom>
          <a:solidFill>
            <a:srgbClr val="D03B3B"/>
          </a:solidFill>
          <a:ln w="12700">
            <a:solidFill>
              <a:srgbClr val="D03B3B"/>
            </a:solidFill>
            <a:prstDash val="solid"/>
          </a:ln>
        </p:spPr>
      </p:sp>
      <p:sp>
        <p:nvSpPr>
          <p:cNvPr id="54" name="Shape 52"/>
          <p:cNvSpPr/>
          <p:nvPr/>
        </p:nvSpPr>
        <p:spPr>
          <a:xfrm>
            <a:off x="2487168" y="3666744"/>
            <a:ext cx="182880" cy="182880"/>
          </a:xfrm>
          <a:prstGeom prst="ellipse">
            <a:avLst/>
          </a:prstGeom>
          <a:solidFill>
            <a:srgbClr val="D03B3B"/>
          </a:solidFill>
          <a:ln w="12700">
            <a:solidFill>
              <a:srgbClr val="D03B3B"/>
            </a:solidFill>
            <a:prstDash val="solid"/>
          </a:ln>
        </p:spPr>
      </p:sp>
      <p:sp>
        <p:nvSpPr>
          <p:cNvPr id="55" name="Shape 53"/>
          <p:cNvSpPr/>
          <p:nvPr/>
        </p:nvSpPr>
        <p:spPr>
          <a:xfrm>
            <a:off x="2729484" y="3666744"/>
            <a:ext cx="182880" cy="182880"/>
          </a:xfrm>
          <a:prstGeom prst="ellipse">
            <a:avLst/>
          </a:prstGeom>
          <a:solidFill>
            <a:srgbClr val="D03B3B"/>
          </a:solidFill>
          <a:ln w="12700">
            <a:solidFill>
              <a:srgbClr val="D03B3B"/>
            </a:solidFill>
            <a:prstDash val="solid"/>
          </a:ln>
        </p:spPr>
      </p:sp>
      <p:sp>
        <p:nvSpPr>
          <p:cNvPr id="56" name="Shape 54"/>
          <p:cNvSpPr/>
          <p:nvPr/>
        </p:nvSpPr>
        <p:spPr>
          <a:xfrm>
            <a:off x="548640" y="3909060"/>
            <a:ext cx="182880" cy="182880"/>
          </a:xfrm>
          <a:prstGeom prst="ellipse">
            <a:avLst/>
          </a:prstGeom>
          <a:solidFill>
            <a:srgbClr val="D03B3B"/>
          </a:solidFill>
          <a:ln w="12700">
            <a:solidFill>
              <a:srgbClr val="D03B3B"/>
            </a:solidFill>
            <a:prstDash val="solid"/>
          </a:ln>
        </p:spPr>
      </p:sp>
      <p:sp>
        <p:nvSpPr>
          <p:cNvPr id="57" name="Shape 55"/>
          <p:cNvSpPr/>
          <p:nvPr/>
        </p:nvSpPr>
        <p:spPr>
          <a:xfrm>
            <a:off x="790956" y="3909060"/>
            <a:ext cx="182880" cy="182880"/>
          </a:xfrm>
          <a:prstGeom prst="ellipse">
            <a:avLst/>
          </a:prstGeom>
          <a:solidFill>
            <a:srgbClr val="D03B3B"/>
          </a:solidFill>
          <a:ln w="12700">
            <a:solidFill>
              <a:srgbClr val="D03B3B"/>
            </a:solidFill>
            <a:prstDash val="solid"/>
          </a:ln>
        </p:spPr>
      </p:sp>
      <p:sp>
        <p:nvSpPr>
          <p:cNvPr id="58" name="Shape 56"/>
          <p:cNvSpPr/>
          <p:nvPr/>
        </p:nvSpPr>
        <p:spPr>
          <a:xfrm>
            <a:off x="1033272" y="3909060"/>
            <a:ext cx="182880" cy="182880"/>
          </a:xfrm>
          <a:prstGeom prst="ellipse">
            <a:avLst/>
          </a:prstGeom>
          <a:solidFill>
            <a:srgbClr val="D03B3B"/>
          </a:solidFill>
          <a:ln w="12700">
            <a:solidFill>
              <a:srgbClr val="D03B3B"/>
            </a:solidFill>
            <a:prstDash val="solid"/>
          </a:ln>
        </p:spPr>
      </p:sp>
      <p:sp>
        <p:nvSpPr>
          <p:cNvPr id="59" name="Shape 57"/>
          <p:cNvSpPr/>
          <p:nvPr/>
        </p:nvSpPr>
        <p:spPr>
          <a:xfrm>
            <a:off x="1275588" y="3909060"/>
            <a:ext cx="182880" cy="182880"/>
          </a:xfrm>
          <a:prstGeom prst="ellipse">
            <a:avLst/>
          </a:prstGeom>
          <a:solidFill>
            <a:srgbClr val="E1E0D9"/>
          </a:solidFill>
          <a:ln w="12700">
            <a:solidFill>
              <a:srgbClr val="E1E0D9"/>
            </a:solidFill>
            <a:prstDash val="solid"/>
          </a:ln>
        </p:spPr>
      </p:sp>
      <p:sp>
        <p:nvSpPr>
          <p:cNvPr id="60" name="Shape 58"/>
          <p:cNvSpPr/>
          <p:nvPr/>
        </p:nvSpPr>
        <p:spPr>
          <a:xfrm>
            <a:off x="1517904" y="3909060"/>
            <a:ext cx="182880" cy="182880"/>
          </a:xfrm>
          <a:prstGeom prst="ellipse">
            <a:avLst/>
          </a:prstGeom>
          <a:solidFill>
            <a:srgbClr val="E1E0D9"/>
          </a:solidFill>
          <a:ln w="12700">
            <a:solidFill>
              <a:srgbClr val="E1E0D9"/>
            </a:solidFill>
            <a:prstDash val="solid"/>
          </a:ln>
        </p:spPr>
      </p:sp>
      <p:sp>
        <p:nvSpPr>
          <p:cNvPr id="61" name="Shape 59"/>
          <p:cNvSpPr/>
          <p:nvPr/>
        </p:nvSpPr>
        <p:spPr>
          <a:xfrm>
            <a:off x="1760220" y="3909060"/>
            <a:ext cx="182880" cy="182880"/>
          </a:xfrm>
          <a:prstGeom prst="ellipse">
            <a:avLst/>
          </a:prstGeom>
          <a:solidFill>
            <a:srgbClr val="E1E0D9"/>
          </a:solidFill>
          <a:ln w="12700">
            <a:solidFill>
              <a:srgbClr val="E1E0D9"/>
            </a:solidFill>
            <a:prstDash val="solid"/>
          </a:ln>
        </p:spPr>
      </p:sp>
      <p:sp>
        <p:nvSpPr>
          <p:cNvPr id="62" name="Shape 60"/>
          <p:cNvSpPr/>
          <p:nvPr/>
        </p:nvSpPr>
        <p:spPr>
          <a:xfrm>
            <a:off x="2002536" y="3909060"/>
            <a:ext cx="182880" cy="182880"/>
          </a:xfrm>
          <a:prstGeom prst="ellipse">
            <a:avLst/>
          </a:prstGeom>
          <a:solidFill>
            <a:srgbClr val="E1E0D9"/>
          </a:solidFill>
          <a:ln w="12700">
            <a:solidFill>
              <a:srgbClr val="E1E0D9"/>
            </a:solidFill>
            <a:prstDash val="solid"/>
          </a:ln>
        </p:spPr>
      </p:sp>
      <p:sp>
        <p:nvSpPr>
          <p:cNvPr id="63" name="Shape 61"/>
          <p:cNvSpPr/>
          <p:nvPr/>
        </p:nvSpPr>
        <p:spPr>
          <a:xfrm>
            <a:off x="2244852" y="3909060"/>
            <a:ext cx="182880" cy="182880"/>
          </a:xfrm>
          <a:prstGeom prst="ellipse">
            <a:avLst/>
          </a:prstGeom>
          <a:solidFill>
            <a:srgbClr val="E1E0D9"/>
          </a:solidFill>
          <a:ln w="12700">
            <a:solidFill>
              <a:srgbClr val="E1E0D9"/>
            </a:solidFill>
            <a:prstDash val="solid"/>
          </a:ln>
        </p:spPr>
      </p:sp>
      <p:sp>
        <p:nvSpPr>
          <p:cNvPr id="64" name="Shape 62"/>
          <p:cNvSpPr/>
          <p:nvPr/>
        </p:nvSpPr>
        <p:spPr>
          <a:xfrm>
            <a:off x="2487168" y="3909060"/>
            <a:ext cx="182880" cy="182880"/>
          </a:xfrm>
          <a:prstGeom prst="ellipse">
            <a:avLst/>
          </a:prstGeom>
          <a:solidFill>
            <a:srgbClr val="E1E0D9"/>
          </a:solidFill>
          <a:ln w="12700">
            <a:solidFill>
              <a:srgbClr val="E1E0D9"/>
            </a:solidFill>
            <a:prstDash val="solid"/>
          </a:ln>
        </p:spPr>
      </p:sp>
      <p:sp>
        <p:nvSpPr>
          <p:cNvPr id="65" name="Shape 63"/>
          <p:cNvSpPr/>
          <p:nvPr/>
        </p:nvSpPr>
        <p:spPr>
          <a:xfrm>
            <a:off x="2729484" y="3909060"/>
            <a:ext cx="182880" cy="182880"/>
          </a:xfrm>
          <a:prstGeom prst="ellipse">
            <a:avLst/>
          </a:prstGeom>
          <a:solidFill>
            <a:srgbClr val="E1E0D9"/>
          </a:solidFill>
          <a:ln w="12700">
            <a:solidFill>
              <a:srgbClr val="E1E0D9"/>
            </a:solidFill>
            <a:prstDash val="solid"/>
          </a:ln>
        </p:spPr>
      </p:sp>
      <p:sp>
        <p:nvSpPr>
          <p:cNvPr id="66" name="Shape 64"/>
          <p:cNvSpPr/>
          <p:nvPr/>
        </p:nvSpPr>
        <p:spPr>
          <a:xfrm>
            <a:off x="548640" y="4151376"/>
            <a:ext cx="182880" cy="182880"/>
          </a:xfrm>
          <a:prstGeom prst="ellipse">
            <a:avLst/>
          </a:prstGeom>
          <a:solidFill>
            <a:srgbClr val="E1E0D9"/>
          </a:solidFill>
          <a:ln w="12700">
            <a:solidFill>
              <a:srgbClr val="E1E0D9"/>
            </a:solidFill>
            <a:prstDash val="solid"/>
          </a:ln>
        </p:spPr>
      </p:sp>
      <p:sp>
        <p:nvSpPr>
          <p:cNvPr id="67" name="Shape 65"/>
          <p:cNvSpPr/>
          <p:nvPr/>
        </p:nvSpPr>
        <p:spPr>
          <a:xfrm>
            <a:off x="790956" y="4151376"/>
            <a:ext cx="182880" cy="182880"/>
          </a:xfrm>
          <a:prstGeom prst="ellipse">
            <a:avLst/>
          </a:prstGeom>
          <a:solidFill>
            <a:srgbClr val="E1E0D9"/>
          </a:solidFill>
          <a:ln w="12700">
            <a:solidFill>
              <a:srgbClr val="E1E0D9"/>
            </a:solidFill>
            <a:prstDash val="solid"/>
          </a:ln>
        </p:spPr>
      </p:sp>
      <p:sp>
        <p:nvSpPr>
          <p:cNvPr id="68" name="Shape 66"/>
          <p:cNvSpPr/>
          <p:nvPr/>
        </p:nvSpPr>
        <p:spPr>
          <a:xfrm>
            <a:off x="1033272" y="4151376"/>
            <a:ext cx="182880" cy="182880"/>
          </a:xfrm>
          <a:prstGeom prst="ellipse">
            <a:avLst/>
          </a:prstGeom>
          <a:solidFill>
            <a:srgbClr val="E1E0D9"/>
          </a:solidFill>
          <a:ln w="12700">
            <a:solidFill>
              <a:srgbClr val="E1E0D9"/>
            </a:solidFill>
            <a:prstDash val="solid"/>
          </a:ln>
        </p:spPr>
      </p:sp>
      <p:sp>
        <p:nvSpPr>
          <p:cNvPr id="69" name="Shape 67"/>
          <p:cNvSpPr/>
          <p:nvPr/>
        </p:nvSpPr>
        <p:spPr>
          <a:xfrm>
            <a:off x="1275588" y="4151376"/>
            <a:ext cx="182880" cy="182880"/>
          </a:xfrm>
          <a:prstGeom prst="ellipse">
            <a:avLst/>
          </a:prstGeom>
          <a:solidFill>
            <a:srgbClr val="E1E0D9"/>
          </a:solidFill>
          <a:ln w="12700">
            <a:solidFill>
              <a:srgbClr val="E1E0D9"/>
            </a:solidFill>
            <a:prstDash val="solid"/>
          </a:ln>
        </p:spPr>
      </p:sp>
      <p:sp>
        <p:nvSpPr>
          <p:cNvPr id="70" name="Shape 68"/>
          <p:cNvSpPr/>
          <p:nvPr/>
        </p:nvSpPr>
        <p:spPr>
          <a:xfrm>
            <a:off x="1517904" y="4151376"/>
            <a:ext cx="182880" cy="182880"/>
          </a:xfrm>
          <a:prstGeom prst="ellipse">
            <a:avLst/>
          </a:prstGeom>
          <a:solidFill>
            <a:srgbClr val="E1E0D9"/>
          </a:solidFill>
          <a:ln w="12700">
            <a:solidFill>
              <a:srgbClr val="E1E0D9"/>
            </a:solidFill>
            <a:prstDash val="solid"/>
          </a:ln>
        </p:spPr>
      </p:sp>
      <p:sp>
        <p:nvSpPr>
          <p:cNvPr id="71" name="Shape 69"/>
          <p:cNvSpPr/>
          <p:nvPr/>
        </p:nvSpPr>
        <p:spPr>
          <a:xfrm>
            <a:off x="1760220" y="4151376"/>
            <a:ext cx="182880" cy="182880"/>
          </a:xfrm>
          <a:prstGeom prst="ellipse">
            <a:avLst/>
          </a:prstGeom>
          <a:solidFill>
            <a:srgbClr val="E1E0D9"/>
          </a:solidFill>
          <a:ln w="12700">
            <a:solidFill>
              <a:srgbClr val="E1E0D9"/>
            </a:solidFill>
            <a:prstDash val="solid"/>
          </a:ln>
        </p:spPr>
      </p:sp>
      <p:sp>
        <p:nvSpPr>
          <p:cNvPr id="72" name="Shape 70"/>
          <p:cNvSpPr/>
          <p:nvPr/>
        </p:nvSpPr>
        <p:spPr>
          <a:xfrm>
            <a:off x="2002536" y="4151376"/>
            <a:ext cx="182880" cy="182880"/>
          </a:xfrm>
          <a:prstGeom prst="ellipse">
            <a:avLst/>
          </a:prstGeom>
          <a:solidFill>
            <a:srgbClr val="E1E0D9"/>
          </a:solidFill>
          <a:ln w="12700">
            <a:solidFill>
              <a:srgbClr val="E1E0D9"/>
            </a:solidFill>
            <a:prstDash val="solid"/>
          </a:ln>
        </p:spPr>
      </p:sp>
      <p:sp>
        <p:nvSpPr>
          <p:cNvPr id="73" name="Shape 71"/>
          <p:cNvSpPr/>
          <p:nvPr/>
        </p:nvSpPr>
        <p:spPr>
          <a:xfrm>
            <a:off x="2244852" y="4151376"/>
            <a:ext cx="182880" cy="182880"/>
          </a:xfrm>
          <a:prstGeom prst="ellipse">
            <a:avLst/>
          </a:prstGeom>
          <a:solidFill>
            <a:srgbClr val="E1E0D9"/>
          </a:solidFill>
          <a:ln w="12700">
            <a:solidFill>
              <a:srgbClr val="E1E0D9"/>
            </a:solidFill>
            <a:prstDash val="solid"/>
          </a:ln>
        </p:spPr>
      </p:sp>
      <p:sp>
        <p:nvSpPr>
          <p:cNvPr id="74" name="Shape 72"/>
          <p:cNvSpPr/>
          <p:nvPr/>
        </p:nvSpPr>
        <p:spPr>
          <a:xfrm>
            <a:off x="2487168" y="4151376"/>
            <a:ext cx="182880" cy="182880"/>
          </a:xfrm>
          <a:prstGeom prst="ellipse">
            <a:avLst/>
          </a:prstGeom>
          <a:solidFill>
            <a:srgbClr val="E1E0D9"/>
          </a:solidFill>
          <a:ln w="12700">
            <a:solidFill>
              <a:srgbClr val="E1E0D9"/>
            </a:solidFill>
            <a:prstDash val="solid"/>
          </a:ln>
        </p:spPr>
      </p:sp>
      <p:sp>
        <p:nvSpPr>
          <p:cNvPr id="75" name="Shape 73"/>
          <p:cNvSpPr/>
          <p:nvPr/>
        </p:nvSpPr>
        <p:spPr>
          <a:xfrm>
            <a:off x="2729484" y="4151376"/>
            <a:ext cx="182880" cy="182880"/>
          </a:xfrm>
          <a:prstGeom prst="ellipse">
            <a:avLst/>
          </a:prstGeom>
          <a:solidFill>
            <a:srgbClr val="E1E0D9"/>
          </a:solidFill>
          <a:ln w="12700">
            <a:solidFill>
              <a:srgbClr val="E1E0D9"/>
            </a:solidFill>
            <a:prstDash val="solid"/>
          </a:ln>
        </p:spPr>
      </p:sp>
      <p:sp>
        <p:nvSpPr>
          <p:cNvPr id="76" name="Shape 74"/>
          <p:cNvSpPr/>
          <p:nvPr/>
        </p:nvSpPr>
        <p:spPr>
          <a:xfrm>
            <a:off x="548640" y="4393692"/>
            <a:ext cx="182880" cy="182880"/>
          </a:xfrm>
          <a:prstGeom prst="ellipse">
            <a:avLst/>
          </a:prstGeom>
          <a:solidFill>
            <a:srgbClr val="E1E0D9"/>
          </a:solidFill>
          <a:ln w="12700">
            <a:solidFill>
              <a:srgbClr val="E1E0D9"/>
            </a:solidFill>
            <a:prstDash val="solid"/>
          </a:ln>
        </p:spPr>
      </p:sp>
      <p:sp>
        <p:nvSpPr>
          <p:cNvPr id="77" name="Shape 75"/>
          <p:cNvSpPr/>
          <p:nvPr/>
        </p:nvSpPr>
        <p:spPr>
          <a:xfrm>
            <a:off x="790956" y="4393692"/>
            <a:ext cx="182880" cy="182880"/>
          </a:xfrm>
          <a:prstGeom prst="ellipse">
            <a:avLst/>
          </a:prstGeom>
          <a:solidFill>
            <a:srgbClr val="E1E0D9"/>
          </a:solidFill>
          <a:ln w="12700">
            <a:solidFill>
              <a:srgbClr val="E1E0D9"/>
            </a:solidFill>
            <a:prstDash val="solid"/>
          </a:ln>
        </p:spPr>
      </p:sp>
      <p:sp>
        <p:nvSpPr>
          <p:cNvPr id="78" name="Shape 76"/>
          <p:cNvSpPr/>
          <p:nvPr/>
        </p:nvSpPr>
        <p:spPr>
          <a:xfrm>
            <a:off x="1033272" y="4393692"/>
            <a:ext cx="182880" cy="182880"/>
          </a:xfrm>
          <a:prstGeom prst="ellipse">
            <a:avLst/>
          </a:prstGeom>
          <a:solidFill>
            <a:srgbClr val="E1E0D9"/>
          </a:solidFill>
          <a:ln w="12700">
            <a:solidFill>
              <a:srgbClr val="E1E0D9"/>
            </a:solidFill>
            <a:prstDash val="solid"/>
          </a:ln>
        </p:spPr>
      </p:sp>
      <p:sp>
        <p:nvSpPr>
          <p:cNvPr id="79" name="Shape 77"/>
          <p:cNvSpPr/>
          <p:nvPr/>
        </p:nvSpPr>
        <p:spPr>
          <a:xfrm>
            <a:off x="1275588" y="4393692"/>
            <a:ext cx="182880" cy="182880"/>
          </a:xfrm>
          <a:prstGeom prst="ellipse">
            <a:avLst/>
          </a:prstGeom>
          <a:solidFill>
            <a:srgbClr val="E1E0D9"/>
          </a:solidFill>
          <a:ln w="12700">
            <a:solidFill>
              <a:srgbClr val="E1E0D9"/>
            </a:solidFill>
            <a:prstDash val="solid"/>
          </a:ln>
        </p:spPr>
      </p:sp>
      <p:sp>
        <p:nvSpPr>
          <p:cNvPr id="80" name="Shape 78"/>
          <p:cNvSpPr/>
          <p:nvPr/>
        </p:nvSpPr>
        <p:spPr>
          <a:xfrm>
            <a:off x="1517904" y="4393692"/>
            <a:ext cx="182880" cy="182880"/>
          </a:xfrm>
          <a:prstGeom prst="ellipse">
            <a:avLst/>
          </a:prstGeom>
          <a:solidFill>
            <a:srgbClr val="E1E0D9"/>
          </a:solidFill>
          <a:ln w="12700">
            <a:solidFill>
              <a:srgbClr val="E1E0D9"/>
            </a:solidFill>
            <a:prstDash val="solid"/>
          </a:ln>
        </p:spPr>
      </p:sp>
      <p:sp>
        <p:nvSpPr>
          <p:cNvPr id="81" name="Shape 79"/>
          <p:cNvSpPr/>
          <p:nvPr/>
        </p:nvSpPr>
        <p:spPr>
          <a:xfrm>
            <a:off x="1760220" y="4393692"/>
            <a:ext cx="182880" cy="182880"/>
          </a:xfrm>
          <a:prstGeom prst="ellipse">
            <a:avLst/>
          </a:prstGeom>
          <a:solidFill>
            <a:srgbClr val="E1E0D9"/>
          </a:solidFill>
          <a:ln w="12700">
            <a:solidFill>
              <a:srgbClr val="E1E0D9"/>
            </a:solidFill>
            <a:prstDash val="solid"/>
          </a:ln>
        </p:spPr>
      </p:sp>
      <p:sp>
        <p:nvSpPr>
          <p:cNvPr id="82" name="Shape 80"/>
          <p:cNvSpPr/>
          <p:nvPr/>
        </p:nvSpPr>
        <p:spPr>
          <a:xfrm>
            <a:off x="2002536" y="4393692"/>
            <a:ext cx="182880" cy="182880"/>
          </a:xfrm>
          <a:prstGeom prst="ellipse">
            <a:avLst/>
          </a:prstGeom>
          <a:solidFill>
            <a:srgbClr val="E1E0D9"/>
          </a:solidFill>
          <a:ln w="12700">
            <a:solidFill>
              <a:srgbClr val="E1E0D9"/>
            </a:solidFill>
            <a:prstDash val="solid"/>
          </a:ln>
        </p:spPr>
      </p:sp>
      <p:sp>
        <p:nvSpPr>
          <p:cNvPr id="83" name="Shape 81"/>
          <p:cNvSpPr/>
          <p:nvPr/>
        </p:nvSpPr>
        <p:spPr>
          <a:xfrm>
            <a:off x="2244852" y="4393692"/>
            <a:ext cx="182880" cy="182880"/>
          </a:xfrm>
          <a:prstGeom prst="ellipse">
            <a:avLst/>
          </a:prstGeom>
          <a:solidFill>
            <a:srgbClr val="E1E0D9"/>
          </a:solidFill>
          <a:ln w="12700">
            <a:solidFill>
              <a:srgbClr val="E1E0D9"/>
            </a:solidFill>
            <a:prstDash val="solid"/>
          </a:ln>
        </p:spPr>
      </p:sp>
      <p:sp>
        <p:nvSpPr>
          <p:cNvPr id="84" name="Shape 82"/>
          <p:cNvSpPr/>
          <p:nvPr/>
        </p:nvSpPr>
        <p:spPr>
          <a:xfrm>
            <a:off x="2487168" y="4393692"/>
            <a:ext cx="182880" cy="182880"/>
          </a:xfrm>
          <a:prstGeom prst="ellipse">
            <a:avLst/>
          </a:prstGeom>
          <a:solidFill>
            <a:srgbClr val="E1E0D9"/>
          </a:solidFill>
          <a:ln w="12700">
            <a:solidFill>
              <a:srgbClr val="E1E0D9"/>
            </a:solidFill>
            <a:prstDash val="solid"/>
          </a:ln>
        </p:spPr>
      </p:sp>
      <p:sp>
        <p:nvSpPr>
          <p:cNvPr id="85" name="Shape 83"/>
          <p:cNvSpPr/>
          <p:nvPr/>
        </p:nvSpPr>
        <p:spPr>
          <a:xfrm>
            <a:off x="2729484" y="4393692"/>
            <a:ext cx="182880" cy="182880"/>
          </a:xfrm>
          <a:prstGeom prst="ellipse">
            <a:avLst/>
          </a:prstGeom>
          <a:solidFill>
            <a:srgbClr val="E1E0D9"/>
          </a:solidFill>
          <a:ln w="12700">
            <a:solidFill>
              <a:srgbClr val="E1E0D9"/>
            </a:solidFill>
            <a:prstDash val="solid"/>
          </a:ln>
        </p:spPr>
      </p:sp>
      <p:sp>
        <p:nvSpPr>
          <p:cNvPr id="86" name="Shape 84"/>
          <p:cNvSpPr/>
          <p:nvPr/>
        </p:nvSpPr>
        <p:spPr>
          <a:xfrm>
            <a:off x="548640" y="4636008"/>
            <a:ext cx="182880" cy="182880"/>
          </a:xfrm>
          <a:prstGeom prst="ellipse">
            <a:avLst/>
          </a:prstGeom>
          <a:solidFill>
            <a:srgbClr val="E1E0D9"/>
          </a:solidFill>
          <a:ln w="12700">
            <a:solidFill>
              <a:srgbClr val="E1E0D9"/>
            </a:solidFill>
            <a:prstDash val="solid"/>
          </a:ln>
        </p:spPr>
      </p:sp>
      <p:sp>
        <p:nvSpPr>
          <p:cNvPr id="87" name="Shape 85"/>
          <p:cNvSpPr/>
          <p:nvPr/>
        </p:nvSpPr>
        <p:spPr>
          <a:xfrm>
            <a:off x="790956" y="4636008"/>
            <a:ext cx="182880" cy="182880"/>
          </a:xfrm>
          <a:prstGeom prst="ellipse">
            <a:avLst/>
          </a:prstGeom>
          <a:solidFill>
            <a:srgbClr val="E1E0D9"/>
          </a:solidFill>
          <a:ln w="12700">
            <a:solidFill>
              <a:srgbClr val="E1E0D9"/>
            </a:solidFill>
            <a:prstDash val="solid"/>
          </a:ln>
        </p:spPr>
      </p:sp>
      <p:sp>
        <p:nvSpPr>
          <p:cNvPr id="88" name="Shape 86"/>
          <p:cNvSpPr/>
          <p:nvPr/>
        </p:nvSpPr>
        <p:spPr>
          <a:xfrm>
            <a:off x="1033272" y="4636008"/>
            <a:ext cx="182880" cy="182880"/>
          </a:xfrm>
          <a:prstGeom prst="ellipse">
            <a:avLst/>
          </a:prstGeom>
          <a:solidFill>
            <a:srgbClr val="E1E0D9"/>
          </a:solidFill>
          <a:ln w="12700">
            <a:solidFill>
              <a:srgbClr val="E1E0D9"/>
            </a:solidFill>
            <a:prstDash val="solid"/>
          </a:ln>
        </p:spPr>
      </p:sp>
      <p:sp>
        <p:nvSpPr>
          <p:cNvPr id="89" name="Shape 87"/>
          <p:cNvSpPr/>
          <p:nvPr/>
        </p:nvSpPr>
        <p:spPr>
          <a:xfrm>
            <a:off x="1275588" y="4636008"/>
            <a:ext cx="182880" cy="182880"/>
          </a:xfrm>
          <a:prstGeom prst="ellipse">
            <a:avLst/>
          </a:prstGeom>
          <a:solidFill>
            <a:srgbClr val="E1E0D9"/>
          </a:solidFill>
          <a:ln w="12700">
            <a:solidFill>
              <a:srgbClr val="E1E0D9"/>
            </a:solidFill>
            <a:prstDash val="solid"/>
          </a:ln>
        </p:spPr>
      </p:sp>
      <p:sp>
        <p:nvSpPr>
          <p:cNvPr id="90" name="Shape 88"/>
          <p:cNvSpPr/>
          <p:nvPr/>
        </p:nvSpPr>
        <p:spPr>
          <a:xfrm>
            <a:off x="1517904" y="4636008"/>
            <a:ext cx="182880" cy="182880"/>
          </a:xfrm>
          <a:prstGeom prst="ellipse">
            <a:avLst/>
          </a:prstGeom>
          <a:solidFill>
            <a:srgbClr val="E1E0D9"/>
          </a:solidFill>
          <a:ln w="12700">
            <a:solidFill>
              <a:srgbClr val="E1E0D9"/>
            </a:solidFill>
            <a:prstDash val="solid"/>
          </a:ln>
        </p:spPr>
      </p:sp>
      <p:sp>
        <p:nvSpPr>
          <p:cNvPr id="91" name="Shape 89"/>
          <p:cNvSpPr/>
          <p:nvPr/>
        </p:nvSpPr>
        <p:spPr>
          <a:xfrm>
            <a:off x="1760220" y="4636008"/>
            <a:ext cx="182880" cy="182880"/>
          </a:xfrm>
          <a:prstGeom prst="ellipse">
            <a:avLst/>
          </a:prstGeom>
          <a:solidFill>
            <a:srgbClr val="E1E0D9"/>
          </a:solidFill>
          <a:ln w="12700">
            <a:solidFill>
              <a:srgbClr val="E1E0D9"/>
            </a:solidFill>
            <a:prstDash val="solid"/>
          </a:ln>
        </p:spPr>
      </p:sp>
      <p:sp>
        <p:nvSpPr>
          <p:cNvPr id="92" name="Shape 90"/>
          <p:cNvSpPr/>
          <p:nvPr/>
        </p:nvSpPr>
        <p:spPr>
          <a:xfrm>
            <a:off x="2002536" y="4636008"/>
            <a:ext cx="182880" cy="182880"/>
          </a:xfrm>
          <a:prstGeom prst="ellipse">
            <a:avLst/>
          </a:prstGeom>
          <a:solidFill>
            <a:srgbClr val="E1E0D9"/>
          </a:solidFill>
          <a:ln w="12700">
            <a:solidFill>
              <a:srgbClr val="E1E0D9"/>
            </a:solidFill>
            <a:prstDash val="solid"/>
          </a:ln>
        </p:spPr>
      </p:sp>
      <p:sp>
        <p:nvSpPr>
          <p:cNvPr id="93" name="Shape 91"/>
          <p:cNvSpPr/>
          <p:nvPr/>
        </p:nvSpPr>
        <p:spPr>
          <a:xfrm>
            <a:off x="2244852" y="4636008"/>
            <a:ext cx="182880" cy="182880"/>
          </a:xfrm>
          <a:prstGeom prst="ellipse">
            <a:avLst/>
          </a:prstGeom>
          <a:solidFill>
            <a:srgbClr val="E1E0D9"/>
          </a:solidFill>
          <a:ln w="12700">
            <a:solidFill>
              <a:srgbClr val="E1E0D9"/>
            </a:solidFill>
            <a:prstDash val="solid"/>
          </a:ln>
        </p:spPr>
      </p:sp>
      <p:sp>
        <p:nvSpPr>
          <p:cNvPr id="94" name="Shape 92"/>
          <p:cNvSpPr/>
          <p:nvPr/>
        </p:nvSpPr>
        <p:spPr>
          <a:xfrm>
            <a:off x="2487168" y="4636008"/>
            <a:ext cx="182880" cy="182880"/>
          </a:xfrm>
          <a:prstGeom prst="ellipse">
            <a:avLst/>
          </a:prstGeom>
          <a:solidFill>
            <a:srgbClr val="E1E0D9"/>
          </a:solidFill>
          <a:ln w="12700">
            <a:solidFill>
              <a:srgbClr val="E1E0D9"/>
            </a:solidFill>
            <a:prstDash val="solid"/>
          </a:ln>
        </p:spPr>
      </p:sp>
      <p:sp>
        <p:nvSpPr>
          <p:cNvPr id="95" name="Shape 93"/>
          <p:cNvSpPr/>
          <p:nvPr/>
        </p:nvSpPr>
        <p:spPr>
          <a:xfrm>
            <a:off x="2729484" y="4636008"/>
            <a:ext cx="182880" cy="182880"/>
          </a:xfrm>
          <a:prstGeom prst="ellipse">
            <a:avLst/>
          </a:prstGeom>
          <a:solidFill>
            <a:srgbClr val="E1E0D9"/>
          </a:solidFill>
          <a:ln w="12700">
            <a:solidFill>
              <a:srgbClr val="E1E0D9"/>
            </a:solidFill>
            <a:prstDash val="solid"/>
          </a:ln>
        </p:spPr>
      </p:sp>
      <p:sp>
        <p:nvSpPr>
          <p:cNvPr id="96" name="Shape 94"/>
          <p:cNvSpPr/>
          <p:nvPr/>
        </p:nvSpPr>
        <p:spPr>
          <a:xfrm>
            <a:off x="548640" y="4878324"/>
            <a:ext cx="182880" cy="182880"/>
          </a:xfrm>
          <a:prstGeom prst="ellipse">
            <a:avLst/>
          </a:prstGeom>
          <a:solidFill>
            <a:srgbClr val="E1E0D9"/>
          </a:solidFill>
          <a:ln w="12700">
            <a:solidFill>
              <a:srgbClr val="E1E0D9"/>
            </a:solidFill>
            <a:prstDash val="solid"/>
          </a:ln>
        </p:spPr>
      </p:sp>
      <p:sp>
        <p:nvSpPr>
          <p:cNvPr id="97" name="Shape 95"/>
          <p:cNvSpPr/>
          <p:nvPr/>
        </p:nvSpPr>
        <p:spPr>
          <a:xfrm>
            <a:off x="790956" y="4878324"/>
            <a:ext cx="182880" cy="182880"/>
          </a:xfrm>
          <a:prstGeom prst="ellipse">
            <a:avLst/>
          </a:prstGeom>
          <a:solidFill>
            <a:srgbClr val="E1E0D9"/>
          </a:solidFill>
          <a:ln w="12700">
            <a:solidFill>
              <a:srgbClr val="E1E0D9"/>
            </a:solidFill>
            <a:prstDash val="solid"/>
          </a:ln>
        </p:spPr>
      </p:sp>
      <p:sp>
        <p:nvSpPr>
          <p:cNvPr id="98" name="Shape 96"/>
          <p:cNvSpPr/>
          <p:nvPr/>
        </p:nvSpPr>
        <p:spPr>
          <a:xfrm>
            <a:off x="1033272" y="4878324"/>
            <a:ext cx="182880" cy="182880"/>
          </a:xfrm>
          <a:prstGeom prst="ellipse">
            <a:avLst/>
          </a:prstGeom>
          <a:solidFill>
            <a:srgbClr val="E1E0D9"/>
          </a:solidFill>
          <a:ln w="12700">
            <a:solidFill>
              <a:srgbClr val="E1E0D9"/>
            </a:solidFill>
            <a:prstDash val="solid"/>
          </a:ln>
        </p:spPr>
      </p:sp>
      <p:sp>
        <p:nvSpPr>
          <p:cNvPr id="99" name="Shape 97"/>
          <p:cNvSpPr/>
          <p:nvPr/>
        </p:nvSpPr>
        <p:spPr>
          <a:xfrm>
            <a:off x="1275588" y="4878324"/>
            <a:ext cx="182880" cy="182880"/>
          </a:xfrm>
          <a:prstGeom prst="ellipse">
            <a:avLst/>
          </a:prstGeom>
          <a:solidFill>
            <a:srgbClr val="E1E0D9"/>
          </a:solidFill>
          <a:ln w="12700">
            <a:solidFill>
              <a:srgbClr val="E1E0D9"/>
            </a:solidFill>
            <a:prstDash val="solid"/>
          </a:ln>
        </p:spPr>
      </p:sp>
      <p:sp>
        <p:nvSpPr>
          <p:cNvPr id="100" name="Shape 98"/>
          <p:cNvSpPr/>
          <p:nvPr/>
        </p:nvSpPr>
        <p:spPr>
          <a:xfrm>
            <a:off x="1517904" y="4878324"/>
            <a:ext cx="182880" cy="182880"/>
          </a:xfrm>
          <a:prstGeom prst="ellipse">
            <a:avLst/>
          </a:prstGeom>
          <a:solidFill>
            <a:srgbClr val="E1E0D9"/>
          </a:solidFill>
          <a:ln w="12700">
            <a:solidFill>
              <a:srgbClr val="E1E0D9"/>
            </a:solidFill>
            <a:prstDash val="solid"/>
          </a:ln>
        </p:spPr>
      </p:sp>
      <p:sp>
        <p:nvSpPr>
          <p:cNvPr id="101" name="Shape 99"/>
          <p:cNvSpPr/>
          <p:nvPr/>
        </p:nvSpPr>
        <p:spPr>
          <a:xfrm>
            <a:off x="1760220" y="4878324"/>
            <a:ext cx="182880" cy="182880"/>
          </a:xfrm>
          <a:prstGeom prst="ellipse">
            <a:avLst/>
          </a:prstGeom>
          <a:solidFill>
            <a:srgbClr val="E1E0D9"/>
          </a:solidFill>
          <a:ln w="12700">
            <a:solidFill>
              <a:srgbClr val="E1E0D9"/>
            </a:solidFill>
            <a:prstDash val="solid"/>
          </a:ln>
        </p:spPr>
      </p:sp>
      <p:sp>
        <p:nvSpPr>
          <p:cNvPr id="102" name="Shape 100"/>
          <p:cNvSpPr/>
          <p:nvPr/>
        </p:nvSpPr>
        <p:spPr>
          <a:xfrm>
            <a:off x="2002536" y="4878324"/>
            <a:ext cx="182880" cy="182880"/>
          </a:xfrm>
          <a:prstGeom prst="ellipse">
            <a:avLst/>
          </a:prstGeom>
          <a:solidFill>
            <a:srgbClr val="E1E0D9"/>
          </a:solidFill>
          <a:ln w="12700">
            <a:solidFill>
              <a:srgbClr val="E1E0D9"/>
            </a:solidFill>
            <a:prstDash val="solid"/>
          </a:ln>
        </p:spPr>
      </p:sp>
      <p:sp>
        <p:nvSpPr>
          <p:cNvPr id="103" name="Shape 101"/>
          <p:cNvSpPr/>
          <p:nvPr/>
        </p:nvSpPr>
        <p:spPr>
          <a:xfrm>
            <a:off x="2244852" y="4878324"/>
            <a:ext cx="182880" cy="182880"/>
          </a:xfrm>
          <a:prstGeom prst="ellipse">
            <a:avLst/>
          </a:prstGeom>
          <a:solidFill>
            <a:srgbClr val="E1E0D9"/>
          </a:solidFill>
          <a:ln w="12700">
            <a:solidFill>
              <a:srgbClr val="E1E0D9"/>
            </a:solidFill>
            <a:prstDash val="solid"/>
          </a:ln>
        </p:spPr>
      </p:sp>
      <p:sp>
        <p:nvSpPr>
          <p:cNvPr id="104" name="Shape 102"/>
          <p:cNvSpPr/>
          <p:nvPr/>
        </p:nvSpPr>
        <p:spPr>
          <a:xfrm>
            <a:off x="2487168" y="4878324"/>
            <a:ext cx="182880" cy="182880"/>
          </a:xfrm>
          <a:prstGeom prst="ellipse">
            <a:avLst/>
          </a:prstGeom>
          <a:solidFill>
            <a:srgbClr val="E1E0D9"/>
          </a:solidFill>
          <a:ln w="12700">
            <a:solidFill>
              <a:srgbClr val="E1E0D9"/>
            </a:solidFill>
            <a:prstDash val="solid"/>
          </a:ln>
        </p:spPr>
      </p:sp>
      <p:sp>
        <p:nvSpPr>
          <p:cNvPr id="105" name="Shape 103"/>
          <p:cNvSpPr/>
          <p:nvPr/>
        </p:nvSpPr>
        <p:spPr>
          <a:xfrm>
            <a:off x="2729484" y="4878324"/>
            <a:ext cx="182880" cy="182880"/>
          </a:xfrm>
          <a:prstGeom prst="ellipse">
            <a:avLst/>
          </a:prstGeom>
          <a:solidFill>
            <a:srgbClr val="E1E0D9"/>
          </a:solidFill>
          <a:ln w="12700">
            <a:solidFill>
              <a:srgbClr val="E1E0D9"/>
            </a:solidFill>
            <a:prstDash val="solid"/>
          </a:ln>
        </p:spPr>
      </p:sp>
      <p:sp>
        <p:nvSpPr>
          <p:cNvPr id="106" name="Text 104"/>
          <p:cNvSpPr txBox="1"/>
          <p:nvPr/>
        </p:nvSpPr>
        <p:spPr>
          <a:xfrm>
            <a:off x="548640" y="5230368"/>
            <a:ext cx="3566160" cy="822960"/>
          </a:xfrm>
          <a:prstGeom prst="rect">
            <a:avLst/>
          </a:prstGeom>
          <a:noFill/>
          <a:ln/>
        </p:spPr>
        <p:txBody>
          <a:bodyPr wrap="square" lIns="0" tIns="0" rIns="0" bIns="0" rtlCol="0" anchor="t"/>
          <a:lstStyle/>
          <a:p>
            <a:pPr indent="0" marL="0">
              <a:buNone/>
            </a:pPr>
            <a:r>
              <a:rPr lang="en-US" sz="2600" b="1" dirty="0">
                <a:solidFill>
                  <a:srgbClr val="D03B3B"/>
                </a:solidFill>
                <a:latin typeface="Arial" pitchFamily="34" charset="0"/>
                <a:ea typeface="Arial" pitchFamily="34" charset="-122"/>
                <a:cs typeface="Arial" pitchFamily="34" charset="-120"/>
              </a:rPr>
              <a:t>53 de cada 100</a:t>
            </a:r>
            <a:endParaRPr lang="en-US" sz="2600" dirty="0"/>
          </a:p>
          <a:p>
            <a:pPr indent="0" marL="0">
              <a:buNone/>
            </a:pPr>
            <a:r>
              <a:rPr lang="en-US" sz="1400" dirty="0">
                <a:solidFill>
                  <a:srgbClr val="52514E"/>
                </a:solidFill>
                <a:latin typeface="Arial" pitchFamily="34" charset="0"/>
                <a:ea typeface="Arial" pitchFamily="34" charset="-122"/>
                <a:cs typeface="Arial" pitchFamily="34" charset="-120"/>
              </a:rPr>
              <a:t>no recupera lo invertido</a:t>
            </a:r>
            <a:endParaRPr lang="en-US" sz="2600" dirty="0"/>
          </a:p>
        </p:txBody>
      </p:sp>
      <p:sp>
        <p:nvSpPr>
          <p:cNvPr id="107" name="Text 105"/>
          <p:cNvSpPr txBox="1"/>
          <p:nvPr/>
        </p:nvSpPr>
        <p:spPr>
          <a:xfrm>
            <a:off x="4526280" y="2240280"/>
            <a:ext cx="3566160" cy="320040"/>
          </a:xfrm>
          <a:prstGeom prst="rect">
            <a:avLst/>
          </a:prstGeom>
          <a:noFill/>
          <a:ln/>
        </p:spPr>
        <p:txBody>
          <a:bodyPr wrap="square" lIns="0" tIns="0" rIns="0" bIns="0" rtlCol="0" anchor="ctr"/>
          <a:lstStyle/>
          <a:p>
            <a:pPr indent="0" marL="0">
              <a:buNone/>
            </a:pPr>
            <a:r>
              <a:rPr lang="en-US" sz="1500" b="1" dirty="0">
                <a:solidFill>
                  <a:srgbClr val="0B0B0B"/>
                </a:solidFill>
                <a:latin typeface="Arial" pitchFamily="34" charset="0"/>
                <a:ea typeface="Arial" pitchFamily="34" charset="-122"/>
                <a:cs typeface="Arial" pitchFamily="34" charset="-120"/>
              </a:rPr>
              <a:t>Nota sobre 7,0</a:t>
            </a:r>
            <a:endParaRPr lang="en-US" sz="1500" dirty="0"/>
          </a:p>
        </p:txBody>
      </p:sp>
      <p:sp>
        <p:nvSpPr>
          <p:cNvPr id="108" name="Shape 106"/>
          <p:cNvSpPr/>
          <p:nvPr/>
        </p:nvSpPr>
        <p:spPr>
          <a:xfrm>
            <a:off x="4526280" y="2697480"/>
            <a:ext cx="182880" cy="182880"/>
          </a:xfrm>
          <a:prstGeom prst="ellipse">
            <a:avLst/>
          </a:prstGeom>
          <a:solidFill>
            <a:srgbClr val="D03B3B"/>
          </a:solidFill>
          <a:ln w="12700">
            <a:solidFill>
              <a:srgbClr val="D03B3B"/>
            </a:solidFill>
            <a:prstDash val="solid"/>
          </a:ln>
        </p:spPr>
      </p:sp>
      <p:sp>
        <p:nvSpPr>
          <p:cNvPr id="109" name="Shape 107"/>
          <p:cNvSpPr/>
          <p:nvPr/>
        </p:nvSpPr>
        <p:spPr>
          <a:xfrm>
            <a:off x="4768596" y="2697480"/>
            <a:ext cx="182880" cy="182880"/>
          </a:xfrm>
          <a:prstGeom prst="ellipse">
            <a:avLst/>
          </a:prstGeom>
          <a:solidFill>
            <a:srgbClr val="D03B3B"/>
          </a:solidFill>
          <a:ln w="12700">
            <a:solidFill>
              <a:srgbClr val="D03B3B"/>
            </a:solidFill>
            <a:prstDash val="solid"/>
          </a:ln>
        </p:spPr>
      </p:sp>
      <p:sp>
        <p:nvSpPr>
          <p:cNvPr id="110" name="Shape 108"/>
          <p:cNvSpPr/>
          <p:nvPr/>
        </p:nvSpPr>
        <p:spPr>
          <a:xfrm>
            <a:off x="5010912" y="2697480"/>
            <a:ext cx="182880" cy="182880"/>
          </a:xfrm>
          <a:prstGeom prst="ellipse">
            <a:avLst/>
          </a:prstGeom>
          <a:solidFill>
            <a:srgbClr val="D03B3B"/>
          </a:solidFill>
          <a:ln w="12700">
            <a:solidFill>
              <a:srgbClr val="D03B3B"/>
            </a:solidFill>
            <a:prstDash val="solid"/>
          </a:ln>
        </p:spPr>
      </p:sp>
      <p:sp>
        <p:nvSpPr>
          <p:cNvPr id="111" name="Shape 109"/>
          <p:cNvSpPr/>
          <p:nvPr/>
        </p:nvSpPr>
        <p:spPr>
          <a:xfrm>
            <a:off x="5253228" y="2697480"/>
            <a:ext cx="182880" cy="182880"/>
          </a:xfrm>
          <a:prstGeom prst="ellipse">
            <a:avLst/>
          </a:prstGeom>
          <a:solidFill>
            <a:srgbClr val="D03B3B"/>
          </a:solidFill>
          <a:ln w="12700">
            <a:solidFill>
              <a:srgbClr val="D03B3B"/>
            </a:solidFill>
            <a:prstDash val="solid"/>
          </a:ln>
        </p:spPr>
      </p:sp>
      <p:sp>
        <p:nvSpPr>
          <p:cNvPr id="112" name="Shape 110"/>
          <p:cNvSpPr/>
          <p:nvPr/>
        </p:nvSpPr>
        <p:spPr>
          <a:xfrm>
            <a:off x="5495544" y="2697480"/>
            <a:ext cx="182880" cy="182880"/>
          </a:xfrm>
          <a:prstGeom prst="ellipse">
            <a:avLst/>
          </a:prstGeom>
          <a:solidFill>
            <a:srgbClr val="D03B3B"/>
          </a:solidFill>
          <a:ln w="12700">
            <a:solidFill>
              <a:srgbClr val="D03B3B"/>
            </a:solidFill>
            <a:prstDash val="solid"/>
          </a:ln>
        </p:spPr>
      </p:sp>
      <p:sp>
        <p:nvSpPr>
          <p:cNvPr id="113" name="Shape 111"/>
          <p:cNvSpPr/>
          <p:nvPr/>
        </p:nvSpPr>
        <p:spPr>
          <a:xfrm>
            <a:off x="5737860" y="2697480"/>
            <a:ext cx="182880" cy="182880"/>
          </a:xfrm>
          <a:prstGeom prst="ellipse">
            <a:avLst/>
          </a:prstGeom>
          <a:solidFill>
            <a:srgbClr val="D03B3B"/>
          </a:solidFill>
          <a:ln w="12700">
            <a:solidFill>
              <a:srgbClr val="D03B3B"/>
            </a:solidFill>
            <a:prstDash val="solid"/>
          </a:ln>
        </p:spPr>
      </p:sp>
      <p:sp>
        <p:nvSpPr>
          <p:cNvPr id="114" name="Shape 112"/>
          <p:cNvSpPr/>
          <p:nvPr/>
        </p:nvSpPr>
        <p:spPr>
          <a:xfrm>
            <a:off x="5980176" y="2697480"/>
            <a:ext cx="182880" cy="182880"/>
          </a:xfrm>
          <a:prstGeom prst="ellipse">
            <a:avLst/>
          </a:prstGeom>
          <a:solidFill>
            <a:srgbClr val="D03B3B"/>
          </a:solidFill>
          <a:ln w="12700">
            <a:solidFill>
              <a:srgbClr val="D03B3B"/>
            </a:solidFill>
            <a:prstDash val="solid"/>
          </a:ln>
        </p:spPr>
      </p:sp>
      <p:sp>
        <p:nvSpPr>
          <p:cNvPr id="115" name="Shape 113"/>
          <p:cNvSpPr/>
          <p:nvPr/>
        </p:nvSpPr>
        <p:spPr>
          <a:xfrm>
            <a:off x="6222492" y="2697480"/>
            <a:ext cx="182880" cy="182880"/>
          </a:xfrm>
          <a:prstGeom prst="ellipse">
            <a:avLst/>
          </a:prstGeom>
          <a:solidFill>
            <a:srgbClr val="D03B3B"/>
          </a:solidFill>
          <a:ln w="12700">
            <a:solidFill>
              <a:srgbClr val="D03B3B"/>
            </a:solidFill>
            <a:prstDash val="solid"/>
          </a:ln>
        </p:spPr>
      </p:sp>
      <p:sp>
        <p:nvSpPr>
          <p:cNvPr id="116" name="Shape 114"/>
          <p:cNvSpPr/>
          <p:nvPr/>
        </p:nvSpPr>
        <p:spPr>
          <a:xfrm>
            <a:off x="6464808" y="2697480"/>
            <a:ext cx="182880" cy="182880"/>
          </a:xfrm>
          <a:prstGeom prst="ellipse">
            <a:avLst/>
          </a:prstGeom>
          <a:solidFill>
            <a:srgbClr val="D03B3B"/>
          </a:solidFill>
          <a:ln w="12700">
            <a:solidFill>
              <a:srgbClr val="D03B3B"/>
            </a:solidFill>
            <a:prstDash val="solid"/>
          </a:ln>
        </p:spPr>
      </p:sp>
      <p:sp>
        <p:nvSpPr>
          <p:cNvPr id="117" name="Shape 115"/>
          <p:cNvSpPr/>
          <p:nvPr/>
        </p:nvSpPr>
        <p:spPr>
          <a:xfrm>
            <a:off x="6707124" y="2697480"/>
            <a:ext cx="182880" cy="182880"/>
          </a:xfrm>
          <a:prstGeom prst="ellipse">
            <a:avLst/>
          </a:prstGeom>
          <a:solidFill>
            <a:srgbClr val="D03B3B"/>
          </a:solidFill>
          <a:ln w="12700">
            <a:solidFill>
              <a:srgbClr val="D03B3B"/>
            </a:solidFill>
            <a:prstDash val="solid"/>
          </a:ln>
        </p:spPr>
      </p:sp>
      <p:sp>
        <p:nvSpPr>
          <p:cNvPr id="118" name="Shape 116"/>
          <p:cNvSpPr/>
          <p:nvPr/>
        </p:nvSpPr>
        <p:spPr>
          <a:xfrm>
            <a:off x="4526280" y="2939796"/>
            <a:ext cx="182880" cy="182880"/>
          </a:xfrm>
          <a:prstGeom prst="ellipse">
            <a:avLst/>
          </a:prstGeom>
          <a:solidFill>
            <a:srgbClr val="D03B3B"/>
          </a:solidFill>
          <a:ln w="12700">
            <a:solidFill>
              <a:srgbClr val="D03B3B"/>
            </a:solidFill>
            <a:prstDash val="solid"/>
          </a:ln>
        </p:spPr>
      </p:sp>
      <p:sp>
        <p:nvSpPr>
          <p:cNvPr id="119" name="Shape 117"/>
          <p:cNvSpPr/>
          <p:nvPr/>
        </p:nvSpPr>
        <p:spPr>
          <a:xfrm>
            <a:off x="4768596" y="2939796"/>
            <a:ext cx="182880" cy="182880"/>
          </a:xfrm>
          <a:prstGeom prst="ellipse">
            <a:avLst/>
          </a:prstGeom>
          <a:solidFill>
            <a:srgbClr val="D03B3B"/>
          </a:solidFill>
          <a:ln w="12700">
            <a:solidFill>
              <a:srgbClr val="D03B3B"/>
            </a:solidFill>
            <a:prstDash val="solid"/>
          </a:ln>
        </p:spPr>
      </p:sp>
      <p:sp>
        <p:nvSpPr>
          <p:cNvPr id="120" name="Shape 118"/>
          <p:cNvSpPr/>
          <p:nvPr/>
        </p:nvSpPr>
        <p:spPr>
          <a:xfrm>
            <a:off x="5010912" y="2939796"/>
            <a:ext cx="182880" cy="182880"/>
          </a:xfrm>
          <a:prstGeom prst="ellipse">
            <a:avLst/>
          </a:prstGeom>
          <a:solidFill>
            <a:srgbClr val="D03B3B"/>
          </a:solidFill>
          <a:ln w="12700">
            <a:solidFill>
              <a:srgbClr val="D03B3B"/>
            </a:solidFill>
            <a:prstDash val="solid"/>
          </a:ln>
        </p:spPr>
      </p:sp>
      <p:sp>
        <p:nvSpPr>
          <p:cNvPr id="121" name="Shape 119"/>
          <p:cNvSpPr/>
          <p:nvPr/>
        </p:nvSpPr>
        <p:spPr>
          <a:xfrm>
            <a:off x="5253228" y="2939796"/>
            <a:ext cx="182880" cy="182880"/>
          </a:xfrm>
          <a:prstGeom prst="ellipse">
            <a:avLst/>
          </a:prstGeom>
          <a:solidFill>
            <a:srgbClr val="D03B3B"/>
          </a:solidFill>
          <a:ln w="12700">
            <a:solidFill>
              <a:srgbClr val="D03B3B"/>
            </a:solidFill>
            <a:prstDash val="solid"/>
          </a:ln>
        </p:spPr>
      </p:sp>
      <p:sp>
        <p:nvSpPr>
          <p:cNvPr id="122" name="Shape 120"/>
          <p:cNvSpPr/>
          <p:nvPr/>
        </p:nvSpPr>
        <p:spPr>
          <a:xfrm>
            <a:off x="5495544" y="2939796"/>
            <a:ext cx="182880" cy="182880"/>
          </a:xfrm>
          <a:prstGeom prst="ellipse">
            <a:avLst/>
          </a:prstGeom>
          <a:solidFill>
            <a:srgbClr val="D03B3B"/>
          </a:solidFill>
          <a:ln w="12700">
            <a:solidFill>
              <a:srgbClr val="D03B3B"/>
            </a:solidFill>
            <a:prstDash val="solid"/>
          </a:ln>
        </p:spPr>
      </p:sp>
      <p:sp>
        <p:nvSpPr>
          <p:cNvPr id="123" name="Shape 121"/>
          <p:cNvSpPr/>
          <p:nvPr/>
        </p:nvSpPr>
        <p:spPr>
          <a:xfrm>
            <a:off x="5737860" y="2939796"/>
            <a:ext cx="182880" cy="182880"/>
          </a:xfrm>
          <a:prstGeom prst="ellipse">
            <a:avLst/>
          </a:prstGeom>
          <a:solidFill>
            <a:srgbClr val="D03B3B"/>
          </a:solidFill>
          <a:ln w="12700">
            <a:solidFill>
              <a:srgbClr val="D03B3B"/>
            </a:solidFill>
            <a:prstDash val="solid"/>
          </a:ln>
        </p:spPr>
      </p:sp>
      <p:sp>
        <p:nvSpPr>
          <p:cNvPr id="124" name="Shape 122"/>
          <p:cNvSpPr/>
          <p:nvPr/>
        </p:nvSpPr>
        <p:spPr>
          <a:xfrm>
            <a:off x="5980176" y="2939796"/>
            <a:ext cx="182880" cy="182880"/>
          </a:xfrm>
          <a:prstGeom prst="ellipse">
            <a:avLst/>
          </a:prstGeom>
          <a:solidFill>
            <a:srgbClr val="D03B3B"/>
          </a:solidFill>
          <a:ln w="12700">
            <a:solidFill>
              <a:srgbClr val="D03B3B"/>
            </a:solidFill>
            <a:prstDash val="solid"/>
          </a:ln>
        </p:spPr>
      </p:sp>
      <p:sp>
        <p:nvSpPr>
          <p:cNvPr id="125" name="Shape 123"/>
          <p:cNvSpPr/>
          <p:nvPr/>
        </p:nvSpPr>
        <p:spPr>
          <a:xfrm>
            <a:off x="6222492" y="2939796"/>
            <a:ext cx="182880" cy="182880"/>
          </a:xfrm>
          <a:prstGeom prst="ellipse">
            <a:avLst/>
          </a:prstGeom>
          <a:solidFill>
            <a:srgbClr val="D03B3B"/>
          </a:solidFill>
          <a:ln w="12700">
            <a:solidFill>
              <a:srgbClr val="D03B3B"/>
            </a:solidFill>
            <a:prstDash val="solid"/>
          </a:ln>
        </p:spPr>
      </p:sp>
      <p:sp>
        <p:nvSpPr>
          <p:cNvPr id="126" name="Shape 124"/>
          <p:cNvSpPr/>
          <p:nvPr/>
        </p:nvSpPr>
        <p:spPr>
          <a:xfrm>
            <a:off x="6464808" y="2939796"/>
            <a:ext cx="182880" cy="182880"/>
          </a:xfrm>
          <a:prstGeom prst="ellipse">
            <a:avLst/>
          </a:prstGeom>
          <a:solidFill>
            <a:srgbClr val="D03B3B"/>
          </a:solidFill>
          <a:ln w="12700">
            <a:solidFill>
              <a:srgbClr val="D03B3B"/>
            </a:solidFill>
            <a:prstDash val="solid"/>
          </a:ln>
        </p:spPr>
      </p:sp>
      <p:sp>
        <p:nvSpPr>
          <p:cNvPr id="127" name="Shape 125"/>
          <p:cNvSpPr/>
          <p:nvPr/>
        </p:nvSpPr>
        <p:spPr>
          <a:xfrm>
            <a:off x="6707124" y="2939796"/>
            <a:ext cx="182880" cy="182880"/>
          </a:xfrm>
          <a:prstGeom prst="ellipse">
            <a:avLst/>
          </a:prstGeom>
          <a:solidFill>
            <a:srgbClr val="D03B3B"/>
          </a:solidFill>
          <a:ln w="12700">
            <a:solidFill>
              <a:srgbClr val="D03B3B"/>
            </a:solidFill>
            <a:prstDash val="solid"/>
          </a:ln>
        </p:spPr>
      </p:sp>
      <p:sp>
        <p:nvSpPr>
          <p:cNvPr id="128" name="Shape 126"/>
          <p:cNvSpPr/>
          <p:nvPr/>
        </p:nvSpPr>
        <p:spPr>
          <a:xfrm>
            <a:off x="4526280" y="3182112"/>
            <a:ext cx="182880" cy="182880"/>
          </a:xfrm>
          <a:prstGeom prst="ellipse">
            <a:avLst/>
          </a:prstGeom>
          <a:solidFill>
            <a:srgbClr val="D03B3B"/>
          </a:solidFill>
          <a:ln w="12700">
            <a:solidFill>
              <a:srgbClr val="D03B3B"/>
            </a:solidFill>
            <a:prstDash val="solid"/>
          </a:ln>
        </p:spPr>
      </p:sp>
      <p:sp>
        <p:nvSpPr>
          <p:cNvPr id="129" name="Shape 127"/>
          <p:cNvSpPr/>
          <p:nvPr/>
        </p:nvSpPr>
        <p:spPr>
          <a:xfrm>
            <a:off x="4768596" y="3182112"/>
            <a:ext cx="182880" cy="182880"/>
          </a:xfrm>
          <a:prstGeom prst="ellipse">
            <a:avLst/>
          </a:prstGeom>
          <a:solidFill>
            <a:srgbClr val="E1E0D9"/>
          </a:solidFill>
          <a:ln w="12700">
            <a:solidFill>
              <a:srgbClr val="E1E0D9"/>
            </a:solidFill>
            <a:prstDash val="solid"/>
          </a:ln>
        </p:spPr>
      </p:sp>
      <p:sp>
        <p:nvSpPr>
          <p:cNvPr id="130" name="Shape 128"/>
          <p:cNvSpPr/>
          <p:nvPr/>
        </p:nvSpPr>
        <p:spPr>
          <a:xfrm>
            <a:off x="5010912" y="3182112"/>
            <a:ext cx="182880" cy="182880"/>
          </a:xfrm>
          <a:prstGeom prst="ellipse">
            <a:avLst/>
          </a:prstGeom>
          <a:solidFill>
            <a:srgbClr val="E1E0D9"/>
          </a:solidFill>
          <a:ln w="12700">
            <a:solidFill>
              <a:srgbClr val="E1E0D9"/>
            </a:solidFill>
            <a:prstDash val="solid"/>
          </a:ln>
        </p:spPr>
      </p:sp>
      <p:sp>
        <p:nvSpPr>
          <p:cNvPr id="131" name="Shape 129"/>
          <p:cNvSpPr/>
          <p:nvPr/>
        </p:nvSpPr>
        <p:spPr>
          <a:xfrm>
            <a:off x="5253228" y="3182112"/>
            <a:ext cx="182880" cy="182880"/>
          </a:xfrm>
          <a:prstGeom prst="ellipse">
            <a:avLst/>
          </a:prstGeom>
          <a:solidFill>
            <a:srgbClr val="E1E0D9"/>
          </a:solidFill>
          <a:ln w="12700">
            <a:solidFill>
              <a:srgbClr val="E1E0D9"/>
            </a:solidFill>
            <a:prstDash val="solid"/>
          </a:ln>
        </p:spPr>
      </p:sp>
      <p:sp>
        <p:nvSpPr>
          <p:cNvPr id="132" name="Shape 130"/>
          <p:cNvSpPr/>
          <p:nvPr/>
        </p:nvSpPr>
        <p:spPr>
          <a:xfrm>
            <a:off x="5495544" y="3182112"/>
            <a:ext cx="182880" cy="182880"/>
          </a:xfrm>
          <a:prstGeom prst="ellipse">
            <a:avLst/>
          </a:prstGeom>
          <a:solidFill>
            <a:srgbClr val="E1E0D9"/>
          </a:solidFill>
          <a:ln w="12700">
            <a:solidFill>
              <a:srgbClr val="E1E0D9"/>
            </a:solidFill>
            <a:prstDash val="solid"/>
          </a:ln>
        </p:spPr>
      </p:sp>
      <p:sp>
        <p:nvSpPr>
          <p:cNvPr id="133" name="Shape 131"/>
          <p:cNvSpPr/>
          <p:nvPr/>
        </p:nvSpPr>
        <p:spPr>
          <a:xfrm>
            <a:off x="5737860" y="3182112"/>
            <a:ext cx="182880" cy="182880"/>
          </a:xfrm>
          <a:prstGeom prst="ellipse">
            <a:avLst/>
          </a:prstGeom>
          <a:solidFill>
            <a:srgbClr val="E1E0D9"/>
          </a:solidFill>
          <a:ln w="12700">
            <a:solidFill>
              <a:srgbClr val="E1E0D9"/>
            </a:solidFill>
            <a:prstDash val="solid"/>
          </a:ln>
        </p:spPr>
      </p:sp>
      <p:sp>
        <p:nvSpPr>
          <p:cNvPr id="134" name="Shape 132"/>
          <p:cNvSpPr/>
          <p:nvPr/>
        </p:nvSpPr>
        <p:spPr>
          <a:xfrm>
            <a:off x="5980176" y="3182112"/>
            <a:ext cx="182880" cy="182880"/>
          </a:xfrm>
          <a:prstGeom prst="ellipse">
            <a:avLst/>
          </a:prstGeom>
          <a:solidFill>
            <a:srgbClr val="E1E0D9"/>
          </a:solidFill>
          <a:ln w="12700">
            <a:solidFill>
              <a:srgbClr val="E1E0D9"/>
            </a:solidFill>
            <a:prstDash val="solid"/>
          </a:ln>
        </p:spPr>
      </p:sp>
      <p:sp>
        <p:nvSpPr>
          <p:cNvPr id="135" name="Shape 133"/>
          <p:cNvSpPr/>
          <p:nvPr/>
        </p:nvSpPr>
        <p:spPr>
          <a:xfrm>
            <a:off x="6222492" y="3182112"/>
            <a:ext cx="182880" cy="182880"/>
          </a:xfrm>
          <a:prstGeom prst="ellipse">
            <a:avLst/>
          </a:prstGeom>
          <a:solidFill>
            <a:srgbClr val="E1E0D9"/>
          </a:solidFill>
          <a:ln w="12700">
            <a:solidFill>
              <a:srgbClr val="E1E0D9"/>
            </a:solidFill>
            <a:prstDash val="solid"/>
          </a:ln>
        </p:spPr>
      </p:sp>
      <p:sp>
        <p:nvSpPr>
          <p:cNvPr id="136" name="Shape 134"/>
          <p:cNvSpPr/>
          <p:nvPr/>
        </p:nvSpPr>
        <p:spPr>
          <a:xfrm>
            <a:off x="6464808" y="3182112"/>
            <a:ext cx="182880" cy="182880"/>
          </a:xfrm>
          <a:prstGeom prst="ellipse">
            <a:avLst/>
          </a:prstGeom>
          <a:solidFill>
            <a:srgbClr val="E1E0D9"/>
          </a:solidFill>
          <a:ln w="12700">
            <a:solidFill>
              <a:srgbClr val="E1E0D9"/>
            </a:solidFill>
            <a:prstDash val="solid"/>
          </a:ln>
        </p:spPr>
      </p:sp>
      <p:sp>
        <p:nvSpPr>
          <p:cNvPr id="137" name="Shape 135"/>
          <p:cNvSpPr/>
          <p:nvPr/>
        </p:nvSpPr>
        <p:spPr>
          <a:xfrm>
            <a:off x="6707124" y="3182112"/>
            <a:ext cx="182880" cy="182880"/>
          </a:xfrm>
          <a:prstGeom prst="ellipse">
            <a:avLst/>
          </a:prstGeom>
          <a:solidFill>
            <a:srgbClr val="E1E0D9"/>
          </a:solidFill>
          <a:ln w="12700">
            <a:solidFill>
              <a:srgbClr val="E1E0D9"/>
            </a:solidFill>
            <a:prstDash val="solid"/>
          </a:ln>
        </p:spPr>
      </p:sp>
      <p:sp>
        <p:nvSpPr>
          <p:cNvPr id="138" name="Shape 136"/>
          <p:cNvSpPr/>
          <p:nvPr/>
        </p:nvSpPr>
        <p:spPr>
          <a:xfrm>
            <a:off x="4526280" y="3424428"/>
            <a:ext cx="182880" cy="182880"/>
          </a:xfrm>
          <a:prstGeom prst="ellipse">
            <a:avLst/>
          </a:prstGeom>
          <a:solidFill>
            <a:srgbClr val="E1E0D9"/>
          </a:solidFill>
          <a:ln w="12700">
            <a:solidFill>
              <a:srgbClr val="E1E0D9"/>
            </a:solidFill>
            <a:prstDash val="solid"/>
          </a:ln>
        </p:spPr>
      </p:sp>
      <p:sp>
        <p:nvSpPr>
          <p:cNvPr id="139" name="Shape 137"/>
          <p:cNvSpPr/>
          <p:nvPr/>
        </p:nvSpPr>
        <p:spPr>
          <a:xfrm>
            <a:off x="4768596" y="3424428"/>
            <a:ext cx="182880" cy="182880"/>
          </a:xfrm>
          <a:prstGeom prst="ellipse">
            <a:avLst/>
          </a:prstGeom>
          <a:solidFill>
            <a:srgbClr val="E1E0D9"/>
          </a:solidFill>
          <a:ln w="12700">
            <a:solidFill>
              <a:srgbClr val="E1E0D9"/>
            </a:solidFill>
            <a:prstDash val="solid"/>
          </a:ln>
        </p:spPr>
      </p:sp>
      <p:sp>
        <p:nvSpPr>
          <p:cNvPr id="140" name="Shape 138"/>
          <p:cNvSpPr/>
          <p:nvPr/>
        </p:nvSpPr>
        <p:spPr>
          <a:xfrm>
            <a:off x="5010912" y="3424428"/>
            <a:ext cx="182880" cy="182880"/>
          </a:xfrm>
          <a:prstGeom prst="ellipse">
            <a:avLst/>
          </a:prstGeom>
          <a:solidFill>
            <a:srgbClr val="E1E0D9"/>
          </a:solidFill>
          <a:ln w="12700">
            <a:solidFill>
              <a:srgbClr val="E1E0D9"/>
            </a:solidFill>
            <a:prstDash val="solid"/>
          </a:ln>
        </p:spPr>
      </p:sp>
      <p:sp>
        <p:nvSpPr>
          <p:cNvPr id="141" name="Shape 139"/>
          <p:cNvSpPr/>
          <p:nvPr/>
        </p:nvSpPr>
        <p:spPr>
          <a:xfrm>
            <a:off x="5253228" y="3424428"/>
            <a:ext cx="182880" cy="182880"/>
          </a:xfrm>
          <a:prstGeom prst="ellipse">
            <a:avLst/>
          </a:prstGeom>
          <a:solidFill>
            <a:srgbClr val="E1E0D9"/>
          </a:solidFill>
          <a:ln w="12700">
            <a:solidFill>
              <a:srgbClr val="E1E0D9"/>
            </a:solidFill>
            <a:prstDash val="solid"/>
          </a:ln>
        </p:spPr>
      </p:sp>
      <p:sp>
        <p:nvSpPr>
          <p:cNvPr id="142" name="Shape 140"/>
          <p:cNvSpPr/>
          <p:nvPr/>
        </p:nvSpPr>
        <p:spPr>
          <a:xfrm>
            <a:off x="5495544" y="3424428"/>
            <a:ext cx="182880" cy="182880"/>
          </a:xfrm>
          <a:prstGeom prst="ellipse">
            <a:avLst/>
          </a:prstGeom>
          <a:solidFill>
            <a:srgbClr val="E1E0D9"/>
          </a:solidFill>
          <a:ln w="12700">
            <a:solidFill>
              <a:srgbClr val="E1E0D9"/>
            </a:solidFill>
            <a:prstDash val="solid"/>
          </a:ln>
        </p:spPr>
      </p:sp>
      <p:sp>
        <p:nvSpPr>
          <p:cNvPr id="143" name="Shape 141"/>
          <p:cNvSpPr/>
          <p:nvPr/>
        </p:nvSpPr>
        <p:spPr>
          <a:xfrm>
            <a:off x="5737860" y="3424428"/>
            <a:ext cx="182880" cy="182880"/>
          </a:xfrm>
          <a:prstGeom prst="ellipse">
            <a:avLst/>
          </a:prstGeom>
          <a:solidFill>
            <a:srgbClr val="E1E0D9"/>
          </a:solidFill>
          <a:ln w="12700">
            <a:solidFill>
              <a:srgbClr val="E1E0D9"/>
            </a:solidFill>
            <a:prstDash val="solid"/>
          </a:ln>
        </p:spPr>
      </p:sp>
      <p:sp>
        <p:nvSpPr>
          <p:cNvPr id="144" name="Shape 142"/>
          <p:cNvSpPr/>
          <p:nvPr/>
        </p:nvSpPr>
        <p:spPr>
          <a:xfrm>
            <a:off x="5980176" y="3424428"/>
            <a:ext cx="182880" cy="182880"/>
          </a:xfrm>
          <a:prstGeom prst="ellipse">
            <a:avLst/>
          </a:prstGeom>
          <a:solidFill>
            <a:srgbClr val="E1E0D9"/>
          </a:solidFill>
          <a:ln w="12700">
            <a:solidFill>
              <a:srgbClr val="E1E0D9"/>
            </a:solidFill>
            <a:prstDash val="solid"/>
          </a:ln>
        </p:spPr>
      </p:sp>
      <p:sp>
        <p:nvSpPr>
          <p:cNvPr id="145" name="Shape 143"/>
          <p:cNvSpPr/>
          <p:nvPr/>
        </p:nvSpPr>
        <p:spPr>
          <a:xfrm>
            <a:off x="6222492" y="3424428"/>
            <a:ext cx="182880" cy="182880"/>
          </a:xfrm>
          <a:prstGeom prst="ellipse">
            <a:avLst/>
          </a:prstGeom>
          <a:solidFill>
            <a:srgbClr val="E1E0D9"/>
          </a:solidFill>
          <a:ln w="12700">
            <a:solidFill>
              <a:srgbClr val="E1E0D9"/>
            </a:solidFill>
            <a:prstDash val="solid"/>
          </a:ln>
        </p:spPr>
      </p:sp>
      <p:sp>
        <p:nvSpPr>
          <p:cNvPr id="146" name="Shape 144"/>
          <p:cNvSpPr/>
          <p:nvPr/>
        </p:nvSpPr>
        <p:spPr>
          <a:xfrm>
            <a:off x="6464808" y="3424428"/>
            <a:ext cx="182880" cy="182880"/>
          </a:xfrm>
          <a:prstGeom prst="ellipse">
            <a:avLst/>
          </a:prstGeom>
          <a:solidFill>
            <a:srgbClr val="E1E0D9"/>
          </a:solidFill>
          <a:ln w="12700">
            <a:solidFill>
              <a:srgbClr val="E1E0D9"/>
            </a:solidFill>
            <a:prstDash val="solid"/>
          </a:ln>
        </p:spPr>
      </p:sp>
      <p:sp>
        <p:nvSpPr>
          <p:cNvPr id="147" name="Shape 145"/>
          <p:cNvSpPr/>
          <p:nvPr/>
        </p:nvSpPr>
        <p:spPr>
          <a:xfrm>
            <a:off x="6707124" y="3424428"/>
            <a:ext cx="182880" cy="182880"/>
          </a:xfrm>
          <a:prstGeom prst="ellipse">
            <a:avLst/>
          </a:prstGeom>
          <a:solidFill>
            <a:srgbClr val="E1E0D9"/>
          </a:solidFill>
          <a:ln w="12700">
            <a:solidFill>
              <a:srgbClr val="E1E0D9"/>
            </a:solidFill>
            <a:prstDash val="solid"/>
          </a:ln>
        </p:spPr>
      </p:sp>
      <p:sp>
        <p:nvSpPr>
          <p:cNvPr id="148" name="Shape 146"/>
          <p:cNvSpPr/>
          <p:nvPr/>
        </p:nvSpPr>
        <p:spPr>
          <a:xfrm>
            <a:off x="4526280" y="3666744"/>
            <a:ext cx="182880" cy="182880"/>
          </a:xfrm>
          <a:prstGeom prst="ellipse">
            <a:avLst/>
          </a:prstGeom>
          <a:solidFill>
            <a:srgbClr val="E1E0D9"/>
          </a:solidFill>
          <a:ln w="12700">
            <a:solidFill>
              <a:srgbClr val="E1E0D9"/>
            </a:solidFill>
            <a:prstDash val="solid"/>
          </a:ln>
        </p:spPr>
      </p:sp>
      <p:sp>
        <p:nvSpPr>
          <p:cNvPr id="149" name="Shape 147"/>
          <p:cNvSpPr/>
          <p:nvPr/>
        </p:nvSpPr>
        <p:spPr>
          <a:xfrm>
            <a:off x="4768596" y="3666744"/>
            <a:ext cx="182880" cy="182880"/>
          </a:xfrm>
          <a:prstGeom prst="ellipse">
            <a:avLst/>
          </a:prstGeom>
          <a:solidFill>
            <a:srgbClr val="E1E0D9"/>
          </a:solidFill>
          <a:ln w="12700">
            <a:solidFill>
              <a:srgbClr val="E1E0D9"/>
            </a:solidFill>
            <a:prstDash val="solid"/>
          </a:ln>
        </p:spPr>
      </p:sp>
      <p:sp>
        <p:nvSpPr>
          <p:cNvPr id="150" name="Shape 148"/>
          <p:cNvSpPr/>
          <p:nvPr/>
        </p:nvSpPr>
        <p:spPr>
          <a:xfrm>
            <a:off x="5010912" y="3666744"/>
            <a:ext cx="182880" cy="182880"/>
          </a:xfrm>
          <a:prstGeom prst="ellipse">
            <a:avLst/>
          </a:prstGeom>
          <a:solidFill>
            <a:srgbClr val="E1E0D9"/>
          </a:solidFill>
          <a:ln w="12700">
            <a:solidFill>
              <a:srgbClr val="E1E0D9"/>
            </a:solidFill>
            <a:prstDash val="solid"/>
          </a:ln>
        </p:spPr>
      </p:sp>
      <p:sp>
        <p:nvSpPr>
          <p:cNvPr id="151" name="Shape 149"/>
          <p:cNvSpPr/>
          <p:nvPr/>
        </p:nvSpPr>
        <p:spPr>
          <a:xfrm>
            <a:off x="5253228" y="3666744"/>
            <a:ext cx="182880" cy="182880"/>
          </a:xfrm>
          <a:prstGeom prst="ellipse">
            <a:avLst/>
          </a:prstGeom>
          <a:solidFill>
            <a:srgbClr val="E1E0D9"/>
          </a:solidFill>
          <a:ln w="12700">
            <a:solidFill>
              <a:srgbClr val="E1E0D9"/>
            </a:solidFill>
            <a:prstDash val="solid"/>
          </a:ln>
        </p:spPr>
      </p:sp>
      <p:sp>
        <p:nvSpPr>
          <p:cNvPr id="152" name="Shape 150"/>
          <p:cNvSpPr/>
          <p:nvPr/>
        </p:nvSpPr>
        <p:spPr>
          <a:xfrm>
            <a:off x="5495544" y="3666744"/>
            <a:ext cx="182880" cy="182880"/>
          </a:xfrm>
          <a:prstGeom prst="ellipse">
            <a:avLst/>
          </a:prstGeom>
          <a:solidFill>
            <a:srgbClr val="E1E0D9"/>
          </a:solidFill>
          <a:ln w="12700">
            <a:solidFill>
              <a:srgbClr val="E1E0D9"/>
            </a:solidFill>
            <a:prstDash val="solid"/>
          </a:ln>
        </p:spPr>
      </p:sp>
      <p:sp>
        <p:nvSpPr>
          <p:cNvPr id="153" name="Shape 151"/>
          <p:cNvSpPr/>
          <p:nvPr/>
        </p:nvSpPr>
        <p:spPr>
          <a:xfrm>
            <a:off x="5737860" y="3666744"/>
            <a:ext cx="182880" cy="182880"/>
          </a:xfrm>
          <a:prstGeom prst="ellipse">
            <a:avLst/>
          </a:prstGeom>
          <a:solidFill>
            <a:srgbClr val="E1E0D9"/>
          </a:solidFill>
          <a:ln w="12700">
            <a:solidFill>
              <a:srgbClr val="E1E0D9"/>
            </a:solidFill>
            <a:prstDash val="solid"/>
          </a:ln>
        </p:spPr>
      </p:sp>
      <p:sp>
        <p:nvSpPr>
          <p:cNvPr id="154" name="Shape 152"/>
          <p:cNvSpPr/>
          <p:nvPr/>
        </p:nvSpPr>
        <p:spPr>
          <a:xfrm>
            <a:off x="5980176" y="3666744"/>
            <a:ext cx="182880" cy="182880"/>
          </a:xfrm>
          <a:prstGeom prst="ellipse">
            <a:avLst/>
          </a:prstGeom>
          <a:solidFill>
            <a:srgbClr val="E1E0D9"/>
          </a:solidFill>
          <a:ln w="12700">
            <a:solidFill>
              <a:srgbClr val="E1E0D9"/>
            </a:solidFill>
            <a:prstDash val="solid"/>
          </a:ln>
        </p:spPr>
      </p:sp>
      <p:sp>
        <p:nvSpPr>
          <p:cNvPr id="155" name="Shape 153"/>
          <p:cNvSpPr/>
          <p:nvPr/>
        </p:nvSpPr>
        <p:spPr>
          <a:xfrm>
            <a:off x="6222492" y="3666744"/>
            <a:ext cx="182880" cy="182880"/>
          </a:xfrm>
          <a:prstGeom prst="ellipse">
            <a:avLst/>
          </a:prstGeom>
          <a:solidFill>
            <a:srgbClr val="E1E0D9"/>
          </a:solidFill>
          <a:ln w="12700">
            <a:solidFill>
              <a:srgbClr val="E1E0D9"/>
            </a:solidFill>
            <a:prstDash val="solid"/>
          </a:ln>
        </p:spPr>
      </p:sp>
      <p:sp>
        <p:nvSpPr>
          <p:cNvPr id="156" name="Shape 154"/>
          <p:cNvSpPr/>
          <p:nvPr/>
        </p:nvSpPr>
        <p:spPr>
          <a:xfrm>
            <a:off x="6464808" y="3666744"/>
            <a:ext cx="182880" cy="182880"/>
          </a:xfrm>
          <a:prstGeom prst="ellipse">
            <a:avLst/>
          </a:prstGeom>
          <a:solidFill>
            <a:srgbClr val="E1E0D9"/>
          </a:solidFill>
          <a:ln w="12700">
            <a:solidFill>
              <a:srgbClr val="E1E0D9"/>
            </a:solidFill>
            <a:prstDash val="solid"/>
          </a:ln>
        </p:spPr>
      </p:sp>
      <p:sp>
        <p:nvSpPr>
          <p:cNvPr id="157" name="Shape 155"/>
          <p:cNvSpPr/>
          <p:nvPr/>
        </p:nvSpPr>
        <p:spPr>
          <a:xfrm>
            <a:off x="6707124" y="3666744"/>
            <a:ext cx="182880" cy="182880"/>
          </a:xfrm>
          <a:prstGeom prst="ellipse">
            <a:avLst/>
          </a:prstGeom>
          <a:solidFill>
            <a:srgbClr val="E1E0D9"/>
          </a:solidFill>
          <a:ln w="12700">
            <a:solidFill>
              <a:srgbClr val="E1E0D9"/>
            </a:solidFill>
            <a:prstDash val="solid"/>
          </a:ln>
        </p:spPr>
      </p:sp>
      <p:sp>
        <p:nvSpPr>
          <p:cNvPr id="158" name="Shape 156"/>
          <p:cNvSpPr/>
          <p:nvPr/>
        </p:nvSpPr>
        <p:spPr>
          <a:xfrm>
            <a:off x="4526280" y="3909060"/>
            <a:ext cx="182880" cy="182880"/>
          </a:xfrm>
          <a:prstGeom prst="ellipse">
            <a:avLst/>
          </a:prstGeom>
          <a:solidFill>
            <a:srgbClr val="E1E0D9"/>
          </a:solidFill>
          <a:ln w="12700">
            <a:solidFill>
              <a:srgbClr val="E1E0D9"/>
            </a:solidFill>
            <a:prstDash val="solid"/>
          </a:ln>
        </p:spPr>
      </p:sp>
      <p:sp>
        <p:nvSpPr>
          <p:cNvPr id="159" name="Shape 157"/>
          <p:cNvSpPr/>
          <p:nvPr/>
        </p:nvSpPr>
        <p:spPr>
          <a:xfrm>
            <a:off x="4768596" y="3909060"/>
            <a:ext cx="182880" cy="182880"/>
          </a:xfrm>
          <a:prstGeom prst="ellipse">
            <a:avLst/>
          </a:prstGeom>
          <a:solidFill>
            <a:srgbClr val="E1E0D9"/>
          </a:solidFill>
          <a:ln w="12700">
            <a:solidFill>
              <a:srgbClr val="E1E0D9"/>
            </a:solidFill>
            <a:prstDash val="solid"/>
          </a:ln>
        </p:spPr>
      </p:sp>
      <p:sp>
        <p:nvSpPr>
          <p:cNvPr id="160" name="Shape 158"/>
          <p:cNvSpPr/>
          <p:nvPr/>
        </p:nvSpPr>
        <p:spPr>
          <a:xfrm>
            <a:off x="5010912" y="3909060"/>
            <a:ext cx="182880" cy="182880"/>
          </a:xfrm>
          <a:prstGeom prst="ellipse">
            <a:avLst/>
          </a:prstGeom>
          <a:solidFill>
            <a:srgbClr val="E1E0D9"/>
          </a:solidFill>
          <a:ln w="12700">
            <a:solidFill>
              <a:srgbClr val="E1E0D9"/>
            </a:solidFill>
            <a:prstDash val="solid"/>
          </a:ln>
        </p:spPr>
      </p:sp>
      <p:sp>
        <p:nvSpPr>
          <p:cNvPr id="161" name="Shape 159"/>
          <p:cNvSpPr/>
          <p:nvPr/>
        </p:nvSpPr>
        <p:spPr>
          <a:xfrm>
            <a:off x="5253228" y="3909060"/>
            <a:ext cx="182880" cy="182880"/>
          </a:xfrm>
          <a:prstGeom prst="ellipse">
            <a:avLst/>
          </a:prstGeom>
          <a:solidFill>
            <a:srgbClr val="E1E0D9"/>
          </a:solidFill>
          <a:ln w="12700">
            <a:solidFill>
              <a:srgbClr val="E1E0D9"/>
            </a:solidFill>
            <a:prstDash val="solid"/>
          </a:ln>
        </p:spPr>
      </p:sp>
      <p:sp>
        <p:nvSpPr>
          <p:cNvPr id="162" name="Shape 160"/>
          <p:cNvSpPr/>
          <p:nvPr/>
        </p:nvSpPr>
        <p:spPr>
          <a:xfrm>
            <a:off x="5495544" y="3909060"/>
            <a:ext cx="182880" cy="182880"/>
          </a:xfrm>
          <a:prstGeom prst="ellipse">
            <a:avLst/>
          </a:prstGeom>
          <a:solidFill>
            <a:srgbClr val="E1E0D9"/>
          </a:solidFill>
          <a:ln w="12700">
            <a:solidFill>
              <a:srgbClr val="E1E0D9"/>
            </a:solidFill>
            <a:prstDash val="solid"/>
          </a:ln>
        </p:spPr>
      </p:sp>
      <p:sp>
        <p:nvSpPr>
          <p:cNvPr id="163" name="Shape 161"/>
          <p:cNvSpPr/>
          <p:nvPr/>
        </p:nvSpPr>
        <p:spPr>
          <a:xfrm>
            <a:off x="5737860" y="3909060"/>
            <a:ext cx="182880" cy="182880"/>
          </a:xfrm>
          <a:prstGeom prst="ellipse">
            <a:avLst/>
          </a:prstGeom>
          <a:solidFill>
            <a:srgbClr val="E1E0D9"/>
          </a:solidFill>
          <a:ln w="12700">
            <a:solidFill>
              <a:srgbClr val="E1E0D9"/>
            </a:solidFill>
            <a:prstDash val="solid"/>
          </a:ln>
        </p:spPr>
      </p:sp>
      <p:sp>
        <p:nvSpPr>
          <p:cNvPr id="164" name="Shape 162"/>
          <p:cNvSpPr/>
          <p:nvPr/>
        </p:nvSpPr>
        <p:spPr>
          <a:xfrm>
            <a:off x="5980176" y="3909060"/>
            <a:ext cx="182880" cy="182880"/>
          </a:xfrm>
          <a:prstGeom prst="ellipse">
            <a:avLst/>
          </a:prstGeom>
          <a:solidFill>
            <a:srgbClr val="E1E0D9"/>
          </a:solidFill>
          <a:ln w="12700">
            <a:solidFill>
              <a:srgbClr val="E1E0D9"/>
            </a:solidFill>
            <a:prstDash val="solid"/>
          </a:ln>
        </p:spPr>
      </p:sp>
      <p:sp>
        <p:nvSpPr>
          <p:cNvPr id="165" name="Shape 163"/>
          <p:cNvSpPr/>
          <p:nvPr/>
        </p:nvSpPr>
        <p:spPr>
          <a:xfrm>
            <a:off x="6222492" y="3909060"/>
            <a:ext cx="182880" cy="182880"/>
          </a:xfrm>
          <a:prstGeom prst="ellipse">
            <a:avLst/>
          </a:prstGeom>
          <a:solidFill>
            <a:srgbClr val="E1E0D9"/>
          </a:solidFill>
          <a:ln w="12700">
            <a:solidFill>
              <a:srgbClr val="E1E0D9"/>
            </a:solidFill>
            <a:prstDash val="solid"/>
          </a:ln>
        </p:spPr>
      </p:sp>
      <p:sp>
        <p:nvSpPr>
          <p:cNvPr id="166" name="Shape 164"/>
          <p:cNvSpPr/>
          <p:nvPr/>
        </p:nvSpPr>
        <p:spPr>
          <a:xfrm>
            <a:off x="6464808" y="3909060"/>
            <a:ext cx="182880" cy="182880"/>
          </a:xfrm>
          <a:prstGeom prst="ellipse">
            <a:avLst/>
          </a:prstGeom>
          <a:solidFill>
            <a:srgbClr val="E1E0D9"/>
          </a:solidFill>
          <a:ln w="12700">
            <a:solidFill>
              <a:srgbClr val="E1E0D9"/>
            </a:solidFill>
            <a:prstDash val="solid"/>
          </a:ln>
        </p:spPr>
      </p:sp>
      <p:sp>
        <p:nvSpPr>
          <p:cNvPr id="167" name="Shape 165"/>
          <p:cNvSpPr/>
          <p:nvPr/>
        </p:nvSpPr>
        <p:spPr>
          <a:xfrm>
            <a:off x="6707124" y="3909060"/>
            <a:ext cx="182880" cy="182880"/>
          </a:xfrm>
          <a:prstGeom prst="ellipse">
            <a:avLst/>
          </a:prstGeom>
          <a:solidFill>
            <a:srgbClr val="E1E0D9"/>
          </a:solidFill>
          <a:ln w="12700">
            <a:solidFill>
              <a:srgbClr val="E1E0D9"/>
            </a:solidFill>
            <a:prstDash val="solid"/>
          </a:ln>
        </p:spPr>
      </p:sp>
      <p:sp>
        <p:nvSpPr>
          <p:cNvPr id="168" name="Shape 166"/>
          <p:cNvSpPr/>
          <p:nvPr/>
        </p:nvSpPr>
        <p:spPr>
          <a:xfrm>
            <a:off x="4526280" y="4151376"/>
            <a:ext cx="182880" cy="182880"/>
          </a:xfrm>
          <a:prstGeom prst="ellipse">
            <a:avLst/>
          </a:prstGeom>
          <a:solidFill>
            <a:srgbClr val="E1E0D9"/>
          </a:solidFill>
          <a:ln w="12700">
            <a:solidFill>
              <a:srgbClr val="E1E0D9"/>
            </a:solidFill>
            <a:prstDash val="solid"/>
          </a:ln>
        </p:spPr>
      </p:sp>
      <p:sp>
        <p:nvSpPr>
          <p:cNvPr id="169" name="Shape 167"/>
          <p:cNvSpPr/>
          <p:nvPr/>
        </p:nvSpPr>
        <p:spPr>
          <a:xfrm>
            <a:off x="4768596" y="4151376"/>
            <a:ext cx="182880" cy="182880"/>
          </a:xfrm>
          <a:prstGeom prst="ellipse">
            <a:avLst/>
          </a:prstGeom>
          <a:solidFill>
            <a:srgbClr val="E1E0D9"/>
          </a:solidFill>
          <a:ln w="12700">
            <a:solidFill>
              <a:srgbClr val="E1E0D9"/>
            </a:solidFill>
            <a:prstDash val="solid"/>
          </a:ln>
        </p:spPr>
      </p:sp>
      <p:sp>
        <p:nvSpPr>
          <p:cNvPr id="170" name="Shape 168"/>
          <p:cNvSpPr/>
          <p:nvPr/>
        </p:nvSpPr>
        <p:spPr>
          <a:xfrm>
            <a:off x="5010912" y="4151376"/>
            <a:ext cx="182880" cy="182880"/>
          </a:xfrm>
          <a:prstGeom prst="ellipse">
            <a:avLst/>
          </a:prstGeom>
          <a:solidFill>
            <a:srgbClr val="E1E0D9"/>
          </a:solidFill>
          <a:ln w="12700">
            <a:solidFill>
              <a:srgbClr val="E1E0D9"/>
            </a:solidFill>
            <a:prstDash val="solid"/>
          </a:ln>
        </p:spPr>
      </p:sp>
      <p:sp>
        <p:nvSpPr>
          <p:cNvPr id="171" name="Shape 169"/>
          <p:cNvSpPr/>
          <p:nvPr/>
        </p:nvSpPr>
        <p:spPr>
          <a:xfrm>
            <a:off x="5253228" y="4151376"/>
            <a:ext cx="182880" cy="182880"/>
          </a:xfrm>
          <a:prstGeom prst="ellipse">
            <a:avLst/>
          </a:prstGeom>
          <a:solidFill>
            <a:srgbClr val="E1E0D9"/>
          </a:solidFill>
          <a:ln w="12700">
            <a:solidFill>
              <a:srgbClr val="E1E0D9"/>
            </a:solidFill>
            <a:prstDash val="solid"/>
          </a:ln>
        </p:spPr>
      </p:sp>
      <p:sp>
        <p:nvSpPr>
          <p:cNvPr id="172" name="Shape 170"/>
          <p:cNvSpPr/>
          <p:nvPr/>
        </p:nvSpPr>
        <p:spPr>
          <a:xfrm>
            <a:off x="5495544" y="4151376"/>
            <a:ext cx="182880" cy="182880"/>
          </a:xfrm>
          <a:prstGeom prst="ellipse">
            <a:avLst/>
          </a:prstGeom>
          <a:solidFill>
            <a:srgbClr val="E1E0D9"/>
          </a:solidFill>
          <a:ln w="12700">
            <a:solidFill>
              <a:srgbClr val="E1E0D9"/>
            </a:solidFill>
            <a:prstDash val="solid"/>
          </a:ln>
        </p:spPr>
      </p:sp>
      <p:sp>
        <p:nvSpPr>
          <p:cNvPr id="173" name="Shape 171"/>
          <p:cNvSpPr/>
          <p:nvPr/>
        </p:nvSpPr>
        <p:spPr>
          <a:xfrm>
            <a:off x="5737860" y="4151376"/>
            <a:ext cx="182880" cy="182880"/>
          </a:xfrm>
          <a:prstGeom prst="ellipse">
            <a:avLst/>
          </a:prstGeom>
          <a:solidFill>
            <a:srgbClr val="E1E0D9"/>
          </a:solidFill>
          <a:ln w="12700">
            <a:solidFill>
              <a:srgbClr val="E1E0D9"/>
            </a:solidFill>
            <a:prstDash val="solid"/>
          </a:ln>
        </p:spPr>
      </p:sp>
      <p:sp>
        <p:nvSpPr>
          <p:cNvPr id="174" name="Shape 172"/>
          <p:cNvSpPr/>
          <p:nvPr/>
        </p:nvSpPr>
        <p:spPr>
          <a:xfrm>
            <a:off x="5980176" y="4151376"/>
            <a:ext cx="182880" cy="182880"/>
          </a:xfrm>
          <a:prstGeom prst="ellipse">
            <a:avLst/>
          </a:prstGeom>
          <a:solidFill>
            <a:srgbClr val="E1E0D9"/>
          </a:solidFill>
          <a:ln w="12700">
            <a:solidFill>
              <a:srgbClr val="E1E0D9"/>
            </a:solidFill>
            <a:prstDash val="solid"/>
          </a:ln>
        </p:spPr>
      </p:sp>
      <p:sp>
        <p:nvSpPr>
          <p:cNvPr id="175" name="Shape 173"/>
          <p:cNvSpPr/>
          <p:nvPr/>
        </p:nvSpPr>
        <p:spPr>
          <a:xfrm>
            <a:off x="6222492" y="4151376"/>
            <a:ext cx="182880" cy="182880"/>
          </a:xfrm>
          <a:prstGeom prst="ellipse">
            <a:avLst/>
          </a:prstGeom>
          <a:solidFill>
            <a:srgbClr val="E1E0D9"/>
          </a:solidFill>
          <a:ln w="12700">
            <a:solidFill>
              <a:srgbClr val="E1E0D9"/>
            </a:solidFill>
            <a:prstDash val="solid"/>
          </a:ln>
        </p:spPr>
      </p:sp>
      <p:sp>
        <p:nvSpPr>
          <p:cNvPr id="176" name="Shape 174"/>
          <p:cNvSpPr/>
          <p:nvPr/>
        </p:nvSpPr>
        <p:spPr>
          <a:xfrm>
            <a:off x="6464808" y="4151376"/>
            <a:ext cx="182880" cy="182880"/>
          </a:xfrm>
          <a:prstGeom prst="ellipse">
            <a:avLst/>
          </a:prstGeom>
          <a:solidFill>
            <a:srgbClr val="E1E0D9"/>
          </a:solidFill>
          <a:ln w="12700">
            <a:solidFill>
              <a:srgbClr val="E1E0D9"/>
            </a:solidFill>
            <a:prstDash val="solid"/>
          </a:ln>
        </p:spPr>
      </p:sp>
      <p:sp>
        <p:nvSpPr>
          <p:cNvPr id="177" name="Shape 175"/>
          <p:cNvSpPr/>
          <p:nvPr/>
        </p:nvSpPr>
        <p:spPr>
          <a:xfrm>
            <a:off x="6707124" y="4151376"/>
            <a:ext cx="182880" cy="182880"/>
          </a:xfrm>
          <a:prstGeom prst="ellipse">
            <a:avLst/>
          </a:prstGeom>
          <a:solidFill>
            <a:srgbClr val="E1E0D9"/>
          </a:solidFill>
          <a:ln w="12700">
            <a:solidFill>
              <a:srgbClr val="E1E0D9"/>
            </a:solidFill>
            <a:prstDash val="solid"/>
          </a:ln>
        </p:spPr>
      </p:sp>
      <p:sp>
        <p:nvSpPr>
          <p:cNvPr id="178" name="Shape 176"/>
          <p:cNvSpPr/>
          <p:nvPr/>
        </p:nvSpPr>
        <p:spPr>
          <a:xfrm>
            <a:off x="4526280" y="4393692"/>
            <a:ext cx="182880" cy="182880"/>
          </a:xfrm>
          <a:prstGeom prst="ellipse">
            <a:avLst/>
          </a:prstGeom>
          <a:solidFill>
            <a:srgbClr val="E1E0D9"/>
          </a:solidFill>
          <a:ln w="12700">
            <a:solidFill>
              <a:srgbClr val="E1E0D9"/>
            </a:solidFill>
            <a:prstDash val="solid"/>
          </a:ln>
        </p:spPr>
      </p:sp>
      <p:sp>
        <p:nvSpPr>
          <p:cNvPr id="179" name="Shape 177"/>
          <p:cNvSpPr/>
          <p:nvPr/>
        </p:nvSpPr>
        <p:spPr>
          <a:xfrm>
            <a:off x="4768596" y="4393692"/>
            <a:ext cx="182880" cy="182880"/>
          </a:xfrm>
          <a:prstGeom prst="ellipse">
            <a:avLst/>
          </a:prstGeom>
          <a:solidFill>
            <a:srgbClr val="E1E0D9"/>
          </a:solidFill>
          <a:ln w="12700">
            <a:solidFill>
              <a:srgbClr val="E1E0D9"/>
            </a:solidFill>
            <a:prstDash val="solid"/>
          </a:ln>
        </p:spPr>
      </p:sp>
      <p:sp>
        <p:nvSpPr>
          <p:cNvPr id="180" name="Shape 178"/>
          <p:cNvSpPr/>
          <p:nvPr/>
        </p:nvSpPr>
        <p:spPr>
          <a:xfrm>
            <a:off x="5010912" y="4393692"/>
            <a:ext cx="182880" cy="182880"/>
          </a:xfrm>
          <a:prstGeom prst="ellipse">
            <a:avLst/>
          </a:prstGeom>
          <a:solidFill>
            <a:srgbClr val="E1E0D9"/>
          </a:solidFill>
          <a:ln w="12700">
            <a:solidFill>
              <a:srgbClr val="E1E0D9"/>
            </a:solidFill>
            <a:prstDash val="solid"/>
          </a:ln>
        </p:spPr>
      </p:sp>
      <p:sp>
        <p:nvSpPr>
          <p:cNvPr id="181" name="Shape 179"/>
          <p:cNvSpPr/>
          <p:nvPr/>
        </p:nvSpPr>
        <p:spPr>
          <a:xfrm>
            <a:off x="5253228" y="4393692"/>
            <a:ext cx="182880" cy="182880"/>
          </a:xfrm>
          <a:prstGeom prst="ellipse">
            <a:avLst/>
          </a:prstGeom>
          <a:solidFill>
            <a:srgbClr val="E1E0D9"/>
          </a:solidFill>
          <a:ln w="12700">
            <a:solidFill>
              <a:srgbClr val="E1E0D9"/>
            </a:solidFill>
            <a:prstDash val="solid"/>
          </a:ln>
        </p:spPr>
      </p:sp>
      <p:sp>
        <p:nvSpPr>
          <p:cNvPr id="182" name="Shape 180"/>
          <p:cNvSpPr/>
          <p:nvPr/>
        </p:nvSpPr>
        <p:spPr>
          <a:xfrm>
            <a:off x="5495544" y="4393692"/>
            <a:ext cx="182880" cy="182880"/>
          </a:xfrm>
          <a:prstGeom prst="ellipse">
            <a:avLst/>
          </a:prstGeom>
          <a:solidFill>
            <a:srgbClr val="E1E0D9"/>
          </a:solidFill>
          <a:ln w="12700">
            <a:solidFill>
              <a:srgbClr val="E1E0D9"/>
            </a:solidFill>
            <a:prstDash val="solid"/>
          </a:ln>
        </p:spPr>
      </p:sp>
      <p:sp>
        <p:nvSpPr>
          <p:cNvPr id="183" name="Shape 181"/>
          <p:cNvSpPr/>
          <p:nvPr/>
        </p:nvSpPr>
        <p:spPr>
          <a:xfrm>
            <a:off x="5737860" y="4393692"/>
            <a:ext cx="182880" cy="182880"/>
          </a:xfrm>
          <a:prstGeom prst="ellipse">
            <a:avLst/>
          </a:prstGeom>
          <a:solidFill>
            <a:srgbClr val="E1E0D9"/>
          </a:solidFill>
          <a:ln w="12700">
            <a:solidFill>
              <a:srgbClr val="E1E0D9"/>
            </a:solidFill>
            <a:prstDash val="solid"/>
          </a:ln>
        </p:spPr>
      </p:sp>
      <p:sp>
        <p:nvSpPr>
          <p:cNvPr id="184" name="Shape 182"/>
          <p:cNvSpPr/>
          <p:nvPr/>
        </p:nvSpPr>
        <p:spPr>
          <a:xfrm>
            <a:off x="5980176" y="4393692"/>
            <a:ext cx="182880" cy="182880"/>
          </a:xfrm>
          <a:prstGeom prst="ellipse">
            <a:avLst/>
          </a:prstGeom>
          <a:solidFill>
            <a:srgbClr val="E1E0D9"/>
          </a:solidFill>
          <a:ln w="12700">
            <a:solidFill>
              <a:srgbClr val="E1E0D9"/>
            </a:solidFill>
            <a:prstDash val="solid"/>
          </a:ln>
        </p:spPr>
      </p:sp>
      <p:sp>
        <p:nvSpPr>
          <p:cNvPr id="185" name="Shape 183"/>
          <p:cNvSpPr/>
          <p:nvPr/>
        </p:nvSpPr>
        <p:spPr>
          <a:xfrm>
            <a:off x="6222492" y="4393692"/>
            <a:ext cx="182880" cy="182880"/>
          </a:xfrm>
          <a:prstGeom prst="ellipse">
            <a:avLst/>
          </a:prstGeom>
          <a:solidFill>
            <a:srgbClr val="E1E0D9"/>
          </a:solidFill>
          <a:ln w="12700">
            <a:solidFill>
              <a:srgbClr val="E1E0D9"/>
            </a:solidFill>
            <a:prstDash val="solid"/>
          </a:ln>
        </p:spPr>
      </p:sp>
      <p:sp>
        <p:nvSpPr>
          <p:cNvPr id="186" name="Shape 184"/>
          <p:cNvSpPr/>
          <p:nvPr/>
        </p:nvSpPr>
        <p:spPr>
          <a:xfrm>
            <a:off x="6464808" y="4393692"/>
            <a:ext cx="182880" cy="182880"/>
          </a:xfrm>
          <a:prstGeom prst="ellipse">
            <a:avLst/>
          </a:prstGeom>
          <a:solidFill>
            <a:srgbClr val="E1E0D9"/>
          </a:solidFill>
          <a:ln w="12700">
            <a:solidFill>
              <a:srgbClr val="E1E0D9"/>
            </a:solidFill>
            <a:prstDash val="solid"/>
          </a:ln>
        </p:spPr>
      </p:sp>
      <p:sp>
        <p:nvSpPr>
          <p:cNvPr id="187" name="Shape 185"/>
          <p:cNvSpPr/>
          <p:nvPr/>
        </p:nvSpPr>
        <p:spPr>
          <a:xfrm>
            <a:off x="6707124" y="4393692"/>
            <a:ext cx="182880" cy="182880"/>
          </a:xfrm>
          <a:prstGeom prst="ellipse">
            <a:avLst/>
          </a:prstGeom>
          <a:solidFill>
            <a:srgbClr val="E1E0D9"/>
          </a:solidFill>
          <a:ln w="12700">
            <a:solidFill>
              <a:srgbClr val="E1E0D9"/>
            </a:solidFill>
            <a:prstDash val="solid"/>
          </a:ln>
        </p:spPr>
      </p:sp>
      <p:sp>
        <p:nvSpPr>
          <p:cNvPr id="188" name="Shape 186"/>
          <p:cNvSpPr/>
          <p:nvPr/>
        </p:nvSpPr>
        <p:spPr>
          <a:xfrm>
            <a:off x="4526280" y="4636008"/>
            <a:ext cx="182880" cy="182880"/>
          </a:xfrm>
          <a:prstGeom prst="ellipse">
            <a:avLst/>
          </a:prstGeom>
          <a:solidFill>
            <a:srgbClr val="E1E0D9"/>
          </a:solidFill>
          <a:ln w="12700">
            <a:solidFill>
              <a:srgbClr val="E1E0D9"/>
            </a:solidFill>
            <a:prstDash val="solid"/>
          </a:ln>
        </p:spPr>
      </p:sp>
      <p:sp>
        <p:nvSpPr>
          <p:cNvPr id="189" name="Shape 187"/>
          <p:cNvSpPr/>
          <p:nvPr/>
        </p:nvSpPr>
        <p:spPr>
          <a:xfrm>
            <a:off x="4768596" y="4636008"/>
            <a:ext cx="182880" cy="182880"/>
          </a:xfrm>
          <a:prstGeom prst="ellipse">
            <a:avLst/>
          </a:prstGeom>
          <a:solidFill>
            <a:srgbClr val="E1E0D9"/>
          </a:solidFill>
          <a:ln w="12700">
            <a:solidFill>
              <a:srgbClr val="E1E0D9"/>
            </a:solidFill>
            <a:prstDash val="solid"/>
          </a:ln>
        </p:spPr>
      </p:sp>
      <p:sp>
        <p:nvSpPr>
          <p:cNvPr id="190" name="Shape 188"/>
          <p:cNvSpPr/>
          <p:nvPr/>
        </p:nvSpPr>
        <p:spPr>
          <a:xfrm>
            <a:off x="5010912" y="4636008"/>
            <a:ext cx="182880" cy="182880"/>
          </a:xfrm>
          <a:prstGeom prst="ellipse">
            <a:avLst/>
          </a:prstGeom>
          <a:solidFill>
            <a:srgbClr val="E1E0D9"/>
          </a:solidFill>
          <a:ln w="12700">
            <a:solidFill>
              <a:srgbClr val="E1E0D9"/>
            </a:solidFill>
            <a:prstDash val="solid"/>
          </a:ln>
        </p:spPr>
      </p:sp>
      <p:sp>
        <p:nvSpPr>
          <p:cNvPr id="191" name="Shape 189"/>
          <p:cNvSpPr/>
          <p:nvPr/>
        </p:nvSpPr>
        <p:spPr>
          <a:xfrm>
            <a:off x="5253228" y="4636008"/>
            <a:ext cx="182880" cy="182880"/>
          </a:xfrm>
          <a:prstGeom prst="ellipse">
            <a:avLst/>
          </a:prstGeom>
          <a:solidFill>
            <a:srgbClr val="E1E0D9"/>
          </a:solidFill>
          <a:ln w="12700">
            <a:solidFill>
              <a:srgbClr val="E1E0D9"/>
            </a:solidFill>
            <a:prstDash val="solid"/>
          </a:ln>
        </p:spPr>
      </p:sp>
      <p:sp>
        <p:nvSpPr>
          <p:cNvPr id="192" name="Shape 190"/>
          <p:cNvSpPr/>
          <p:nvPr/>
        </p:nvSpPr>
        <p:spPr>
          <a:xfrm>
            <a:off x="5495544" y="4636008"/>
            <a:ext cx="182880" cy="182880"/>
          </a:xfrm>
          <a:prstGeom prst="ellipse">
            <a:avLst/>
          </a:prstGeom>
          <a:solidFill>
            <a:srgbClr val="E1E0D9"/>
          </a:solidFill>
          <a:ln w="12700">
            <a:solidFill>
              <a:srgbClr val="E1E0D9"/>
            </a:solidFill>
            <a:prstDash val="solid"/>
          </a:ln>
        </p:spPr>
      </p:sp>
      <p:sp>
        <p:nvSpPr>
          <p:cNvPr id="193" name="Shape 191"/>
          <p:cNvSpPr/>
          <p:nvPr/>
        </p:nvSpPr>
        <p:spPr>
          <a:xfrm>
            <a:off x="5737860" y="4636008"/>
            <a:ext cx="182880" cy="182880"/>
          </a:xfrm>
          <a:prstGeom prst="ellipse">
            <a:avLst/>
          </a:prstGeom>
          <a:solidFill>
            <a:srgbClr val="E1E0D9"/>
          </a:solidFill>
          <a:ln w="12700">
            <a:solidFill>
              <a:srgbClr val="E1E0D9"/>
            </a:solidFill>
            <a:prstDash val="solid"/>
          </a:ln>
        </p:spPr>
      </p:sp>
      <p:sp>
        <p:nvSpPr>
          <p:cNvPr id="194" name="Shape 192"/>
          <p:cNvSpPr/>
          <p:nvPr/>
        </p:nvSpPr>
        <p:spPr>
          <a:xfrm>
            <a:off x="5980176" y="4636008"/>
            <a:ext cx="182880" cy="182880"/>
          </a:xfrm>
          <a:prstGeom prst="ellipse">
            <a:avLst/>
          </a:prstGeom>
          <a:solidFill>
            <a:srgbClr val="E1E0D9"/>
          </a:solidFill>
          <a:ln w="12700">
            <a:solidFill>
              <a:srgbClr val="E1E0D9"/>
            </a:solidFill>
            <a:prstDash val="solid"/>
          </a:ln>
        </p:spPr>
      </p:sp>
      <p:sp>
        <p:nvSpPr>
          <p:cNvPr id="195" name="Shape 193"/>
          <p:cNvSpPr/>
          <p:nvPr/>
        </p:nvSpPr>
        <p:spPr>
          <a:xfrm>
            <a:off x="6222492" y="4636008"/>
            <a:ext cx="182880" cy="182880"/>
          </a:xfrm>
          <a:prstGeom prst="ellipse">
            <a:avLst/>
          </a:prstGeom>
          <a:solidFill>
            <a:srgbClr val="E1E0D9"/>
          </a:solidFill>
          <a:ln w="12700">
            <a:solidFill>
              <a:srgbClr val="E1E0D9"/>
            </a:solidFill>
            <a:prstDash val="solid"/>
          </a:ln>
        </p:spPr>
      </p:sp>
      <p:sp>
        <p:nvSpPr>
          <p:cNvPr id="196" name="Shape 194"/>
          <p:cNvSpPr/>
          <p:nvPr/>
        </p:nvSpPr>
        <p:spPr>
          <a:xfrm>
            <a:off x="6464808" y="4636008"/>
            <a:ext cx="182880" cy="182880"/>
          </a:xfrm>
          <a:prstGeom prst="ellipse">
            <a:avLst/>
          </a:prstGeom>
          <a:solidFill>
            <a:srgbClr val="E1E0D9"/>
          </a:solidFill>
          <a:ln w="12700">
            <a:solidFill>
              <a:srgbClr val="E1E0D9"/>
            </a:solidFill>
            <a:prstDash val="solid"/>
          </a:ln>
        </p:spPr>
      </p:sp>
      <p:sp>
        <p:nvSpPr>
          <p:cNvPr id="197" name="Shape 195"/>
          <p:cNvSpPr/>
          <p:nvPr/>
        </p:nvSpPr>
        <p:spPr>
          <a:xfrm>
            <a:off x="6707124" y="4636008"/>
            <a:ext cx="182880" cy="182880"/>
          </a:xfrm>
          <a:prstGeom prst="ellipse">
            <a:avLst/>
          </a:prstGeom>
          <a:solidFill>
            <a:srgbClr val="E1E0D9"/>
          </a:solidFill>
          <a:ln w="12700">
            <a:solidFill>
              <a:srgbClr val="E1E0D9"/>
            </a:solidFill>
            <a:prstDash val="solid"/>
          </a:ln>
        </p:spPr>
      </p:sp>
      <p:sp>
        <p:nvSpPr>
          <p:cNvPr id="198" name="Shape 196"/>
          <p:cNvSpPr/>
          <p:nvPr/>
        </p:nvSpPr>
        <p:spPr>
          <a:xfrm>
            <a:off x="4526280" y="4878324"/>
            <a:ext cx="182880" cy="182880"/>
          </a:xfrm>
          <a:prstGeom prst="ellipse">
            <a:avLst/>
          </a:prstGeom>
          <a:solidFill>
            <a:srgbClr val="E1E0D9"/>
          </a:solidFill>
          <a:ln w="12700">
            <a:solidFill>
              <a:srgbClr val="E1E0D9"/>
            </a:solidFill>
            <a:prstDash val="solid"/>
          </a:ln>
        </p:spPr>
      </p:sp>
      <p:sp>
        <p:nvSpPr>
          <p:cNvPr id="199" name="Shape 197"/>
          <p:cNvSpPr/>
          <p:nvPr/>
        </p:nvSpPr>
        <p:spPr>
          <a:xfrm>
            <a:off x="4768596" y="4878324"/>
            <a:ext cx="182880" cy="182880"/>
          </a:xfrm>
          <a:prstGeom prst="ellipse">
            <a:avLst/>
          </a:prstGeom>
          <a:solidFill>
            <a:srgbClr val="E1E0D9"/>
          </a:solidFill>
          <a:ln w="12700">
            <a:solidFill>
              <a:srgbClr val="E1E0D9"/>
            </a:solidFill>
            <a:prstDash val="solid"/>
          </a:ln>
        </p:spPr>
      </p:sp>
      <p:sp>
        <p:nvSpPr>
          <p:cNvPr id="200" name="Shape 198"/>
          <p:cNvSpPr/>
          <p:nvPr/>
        </p:nvSpPr>
        <p:spPr>
          <a:xfrm>
            <a:off x="5010912" y="4878324"/>
            <a:ext cx="182880" cy="182880"/>
          </a:xfrm>
          <a:prstGeom prst="ellipse">
            <a:avLst/>
          </a:prstGeom>
          <a:solidFill>
            <a:srgbClr val="E1E0D9"/>
          </a:solidFill>
          <a:ln w="12700">
            <a:solidFill>
              <a:srgbClr val="E1E0D9"/>
            </a:solidFill>
            <a:prstDash val="solid"/>
          </a:ln>
        </p:spPr>
      </p:sp>
      <p:sp>
        <p:nvSpPr>
          <p:cNvPr id="201" name="Shape 199"/>
          <p:cNvSpPr/>
          <p:nvPr/>
        </p:nvSpPr>
        <p:spPr>
          <a:xfrm>
            <a:off x="5253228" y="4878324"/>
            <a:ext cx="182880" cy="182880"/>
          </a:xfrm>
          <a:prstGeom prst="ellipse">
            <a:avLst/>
          </a:prstGeom>
          <a:solidFill>
            <a:srgbClr val="E1E0D9"/>
          </a:solidFill>
          <a:ln w="12700">
            <a:solidFill>
              <a:srgbClr val="E1E0D9"/>
            </a:solidFill>
            <a:prstDash val="solid"/>
          </a:ln>
        </p:spPr>
      </p:sp>
      <p:sp>
        <p:nvSpPr>
          <p:cNvPr id="202" name="Shape 200"/>
          <p:cNvSpPr/>
          <p:nvPr/>
        </p:nvSpPr>
        <p:spPr>
          <a:xfrm>
            <a:off x="5495544" y="4878324"/>
            <a:ext cx="182880" cy="182880"/>
          </a:xfrm>
          <a:prstGeom prst="ellipse">
            <a:avLst/>
          </a:prstGeom>
          <a:solidFill>
            <a:srgbClr val="E1E0D9"/>
          </a:solidFill>
          <a:ln w="12700">
            <a:solidFill>
              <a:srgbClr val="E1E0D9"/>
            </a:solidFill>
            <a:prstDash val="solid"/>
          </a:ln>
        </p:spPr>
      </p:sp>
      <p:sp>
        <p:nvSpPr>
          <p:cNvPr id="203" name="Shape 201"/>
          <p:cNvSpPr/>
          <p:nvPr/>
        </p:nvSpPr>
        <p:spPr>
          <a:xfrm>
            <a:off x="5737860" y="4878324"/>
            <a:ext cx="182880" cy="182880"/>
          </a:xfrm>
          <a:prstGeom prst="ellipse">
            <a:avLst/>
          </a:prstGeom>
          <a:solidFill>
            <a:srgbClr val="E1E0D9"/>
          </a:solidFill>
          <a:ln w="12700">
            <a:solidFill>
              <a:srgbClr val="E1E0D9"/>
            </a:solidFill>
            <a:prstDash val="solid"/>
          </a:ln>
        </p:spPr>
      </p:sp>
      <p:sp>
        <p:nvSpPr>
          <p:cNvPr id="204" name="Shape 202"/>
          <p:cNvSpPr/>
          <p:nvPr/>
        </p:nvSpPr>
        <p:spPr>
          <a:xfrm>
            <a:off x="5980176" y="4878324"/>
            <a:ext cx="182880" cy="182880"/>
          </a:xfrm>
          <a:prstGeom prst="ellipse">
            <a:avLst/>
          </a:prstGeom>
          <a:solidFill>
            <a:srgbClr val="E1E0D9"/>
          </a:solidFill>
          <a:ln w="12700">
            <a:solidFill>
              <a:srgbClr val="E1E0D9"/>
            </a:solidFill>
            <a:prstDash val="solid"/>
          </a:ln>
        </p:spPr>
      </p:sp>
      <p:sp>
        <p:nvSpPr>
          <p:cNvPr id="205" name="Shape 203"/>
          <p:cNvSpPr/>
          <p:nvPr/>
        </p:nvSpPr>
        <p:spPr>
          <a:xfrm>
            <a:off x="6222492" y="4878324"/>
            <a:ext cx="182880" cy="182880"/>
          </a:xfrm>
          <a:prstGeom prst="ellipse">
            <a:avLst/>
          </a:prstGeom>
          <a:solidFill>
            <a:srgbClr val="E1E0D9"/>
          </a:solidFill>
          <a:ln w="12700">
            <a:solidFill>
              <a:srgbClr val="E1E0D9"/>
            </a:solidFill>
            <a:prstDash val="solid"/>
          </a:ln>
        </p:spPr>
      </p:sp>
      <p:sp>
        <p:nvSpPr>
          <p:cNvPr id="206" name="Shape 204"/>
          <p:cNvSpPr/>
          <p:nvPr/>
        </p:nvSpPr>
        <p:spPr>
          <a:xfrm>
            <a:off x="6464808" y="4878324"/>
            <a:ext cx="182880" cy="182880"/>
          </a:xfrm>
          <a:prstGeom prst="ellipse">
            <a:avLst/>
          </a:prstGeom>
          <a:solidFill>
            <a:srgbClr val="E1E0D9"/>
          </a:solidFill>
          <a:ln w="12700">
            <a:solidFill>
              <a:srgbClr val="E1E0D9"/>
            </a:solidFill>
            <a:prstDash val="solid"/>
          </a:ln>
        </p:spPr>
      </p:sp>
      <p:sp>
        <p:nvSpPr>
          <p:cNvPr id="207" name="Shape 205"/>
          <p:cNvSpPr/>
          <p:nvPr/>
        </p:nvSpPr>
        <p:spPr>
          <a:xfrm>
            <a:off x="6707124" y="4878324"/>
            <a:ext cx="182880" cy="182880"/>
          </a:xfrm>
          <a:prstGeom prst="ellipse">
            <a:avLst/>
          </a:prstGeom>
          <a:solidFill>
            <a:srgbClr val="E1E0D9"/>
          </a:solidFill>
          <a:ln w="12700">
            <a:solidFill>
              <a:srgbClr val="E1E0D9"/>
            </a:solidFill>
            <a:prstDash val="solid"/>
          </a:ln>
        </p:spPr>
      </p:sp>
      <p:sp>
        <p:nvSpPr>
          <p:cNvPr id="208" name="Text 206"/>
          <p:cNvSpPr txBox="1"/>
          <p:nvPr/>
        </p:nvSpPr>
        <p:spPr>
          <a:xfrm>
            <a:off x="4526280" y="5230368"/>
            <a:ext cx="3566160" cy="822960"/>
          </a:xfrm>
          <a:prstGeom prst="rect">
            <a:avLst/>
          </a:prstGeom>
          <a:noFill/>
          <a:ln/>
        </p:spPr>
        <p:txBody>
          <a:bodyPr wrap="square" lIns="0" tIns="0" rIns="0" bIns="0" rtlCol="0" anchor="t"/>
          <a:lstStyle/>
          <a:p>
            <a:pPr indent="0" marL="0">
              <a:buNone/>
            </a:pPr>
            <a:r>
              <a:rPr lang="en-US" sz="2600" b="1" dirty="0">
                <a:solidFill>
                  <a:srgbClr val="D03B3B"/>
                </a:solidFill>
                <a:latin typeface="Arial" pitchFamily="34" charset="0"/>
                <a:ea typeface="Arial" pitchFamily="34" charset="-122"/>
                <a:cs typeface="Arial" pitchFamily="34" charset="-120"/>
              </a:rPr>
              <a:t>21 de cada 100</a:t>
            </a:r>
            <a:endParaRPr lang="en-US" sz="2600" dirty="0"/>
          </a:p>
          <a:p>
            <a:pPr indent="0" marL="0">
              <a:buNone/>
            </a:pPr>
            <a:r>
              <a:rPr lang="en-US" sz="1400" dirty="0">
                <a:solidFill>
                  <a:srgbClr val="52514E"/>
                </a:solidFill>
                <a:latin typeface="Arial" pitchFamily="34" charset="0"/>
                <a:ea typeface="Arial" pitchFamily="34" charset="-122"/>
                <a:cs typeface="Arial" pitchFamily="34" charset="-120"/>
              </a:rPr>
              <a:t>no recupera lo invertido</a:t>
            </a:r>
            <a:endParaRPr lang="en-US" sz="2600" dirty="0"/>
          </a:p>
        </p:txBody>
      </p:sp>
      <p:sp>
        <p:nvSpPr>
          <p:cNvPr id="209" name="Shape 207"/>
          <p:cNvSpPr/>
          <p:nvPr/>
        </p:nvSpPr>
        <p:spPr>
          <a:xfrm>
            <a:off x="8549640" y="2240280"/>
            <a:ext cx="3093415" cy="3794760"/>
          </a:xfrm>
          <a:prstGeom prst="roundRect">
            <a:avLst>
              <a:gd name="adj" fmla="val 2365"/>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210" name="Text 208"/>
          <p:cNvSpPr txBox="1"/>
          <p:nvPr/>
        </p:nvSpPr>
        <p:spPr>
          <a:xfrm>
            <a:off x="8823960" y="2468880"/>
            <a:ext cx="2544775" cy="365760"/>
          </a:xfrm>
          <a:prstGeom prst="rect">
            <a:avLst/>
          </a:prstGeom>
          <a:noFill/>
          <a:ln/>
        </p:spPr>
        <p:txBody>
          <a:bodyPr wrap="square" lIns="0" tIns="0" rIns="0" bIns="0" rtlCol="0" anchor="ctr"/>
          <a:lstStyle/>
          <a:p>
            <a:pPr indent="0" marL="0">
              <a:buNone/>
            </a:pPr>
            <a:r>
              <a:rPr lang="en-US" sz="1500" b="1" dirty="0">
                <a:solidFill>
                  <a:srgbClr val="0B0B0B"/>
                </a:solidFill>
                <a:latin typeface="Arial" pitchFamily="34" charset="0"/>
                <a:ea typeface="Arial" pitchFamily="34" charset="-122"/>
                <a:cs typeface="Arial" pitchFamily="34" charset="-120"/>
              </a:rPr>
              <a:t>Qué tanto ordena el retorno</a:t>
            </a:r>
            <a:endParaRPr lang="en-US" sz="1500" dirty="0"/>
          </a:p>
        </p:txBody>
      </p:sp>
      <p:sp>
        <p:nvSpPr>
          <p:cNvPr id="211" name="Text 209"/>
          <p:cNvSpPr txBox="1"/>
          <p:nvPr/>
        </p:nvSpPr>
        <p:spPr>
          <a:xfrm>
            <a:off x="8823960" y="3063240"/>
            <a:ext cx="2544775" cy="320040"/>
          </a:xfrm>
          <a:prstGeom prst="rect">
            <a:avLst/>
          </a:prstGeom>
          <a:noFill/>
          <a:ln/>
        </p:spPr>
        <p:txBody>
          <a:bodyPr wrap="square" lIns="0" tIns="0" rIns="0" bIns="0" rtlCol="0" anchor="ctr"/>
          <a:lstStyle/>
          <a:p>
            <a:pPr indent="0" marL="0">
              <a:buNone/>
            </a:pPr>
            <a:r>
              <a:rPr lang="en-US" sz="1400" dirty="0">
                <a:solidFill>
                  <a:srgbClr val="52514E"/>
                </a:solidFill>
                <a:latin typeface="Arial" pitchFamily="34" charset="0"/>
                <a:ea typeface="Arial" pitchFamily="34" charset="-122"/>
                <a:cs typeface="Arial" pitchFamily="34" charset="-120"/>
              </a:rPr>
              <a:t>La nota</a:t>
            </a:r>
            <a:pPr indent="0" marL="0">
              <a:buNone/>
            </a:pPr>
            <a:r>
              <a:rPr lang="en-US" sz="1400" b="1" dirty="0">
                <a:solidFill>
                  <a:srgbClr val="0B0B0B"/>
                </a:solidFill>
                <a:latin typeface="Arial" pitchFamily="34" charset="0"/>
                <a:ea typeface="Arial" pitchFamily="34" charset="-122"/>
                <a:cs typeface="Arial" pitchFamily="34" charset="-120"/>
              </a:rPr>
              <a:t>  0,33</a:t>
            </a:r>
            <a:endParaRPr lang="en-US" sz="1400" dirty="0"/>
          </a:p>
        </p:txBody>
      </p:sp>
      <p:sp>
        <p:nvSpPr>
          <p:cNvPr id="212" name="Shape 210"/>
          <p:cNvSpPr/>
          <p:nvPr/>
        </p:nvSpPr>
        <p:spPr>
          <a:xfrm>
            <a:off x="8823960" y="3447288"/>
            <a:ext cx="2544775" cy="182880"/>
          </a:xfrm>
          <a:prstGeom prst="rect">
            <a:avLst/>
          </a:prstGeom>
          <a:solidFill>
            <a:srgbClr val="E1E0D9"/>
          </a:solidFill>
          <a:ln w="12700">
            <a:solidFill>
              <a:srgbClr val="E1E0D9"/>
            </a:solidFill>
            <a:prstDash val="solid"/>
          </a:ln>
        </p:spPr>
      </p:sp>
      <p:sp>
        <p:nvSpPr>
          <p:cNvPr id="213" name="Shape 211"/>
          <p:cNvSpPr/>
          <p:nvPr/>
        </p:nvSpPr>
        <p:spPr>
          <a:xfrm>
            <a:off x="8823960" y="3447288"/>
            <a:ext cx="834210" cy="182880"/>
          </a:xfrm>
          <a:prstGeom prst="rect">
            <a:avLst/>
          </a:prstGeom>
          <a:solidFill>
            <a:srgbClr val="2A78D6"/>
          </a:solidFill>
          <a:ln w="12700">
            <a:solidFill>
              <a:srgbClr val="2A78D6"/>
            </a:solidFill>
            <a:prstDash val="solid"/>
          </a:ln>
        </p:spPr>
      </p:sp>
      <p:sp>
        <p:nvSpPr>
          <p:cNvPr id="214" name="Text 212"/>
          <p:cNvSpPr txBox="1"/>
          <p:nvPr/>
        </p:nvSpPr>
        <p:spPr>
          <a:xfrm>
            <a:off x="8823960" y="4023360"/>
            <a:ext cx="2544775" cy="320040"/>
          </a:xfrm>
          <a:prstGeom prst="rect">
            <a:avLst/>
          </a:prstGeom>
          <a:noFill/>
          <a:ln/>
        </p:spPr>
        <p:txBody>
          <a:bodyPr wrap="square" lIns="0" tIns="0" rIns="0" bIns="0" rtlCol="0" anchor="ctr"/>
          <a:lstStyle/>
          <a:p>
            <a:pPr indent="0" marL="0">
              <a:buNone/>
            </a:pPr>
            <a:r>
              <a:rPr lang="en-US" sz="1400" dirty="0">
                <a:solidFill>
                  <a:srgbClr val="52514E"/>
                </a:solidFill>
                <a:latin typeface="Arial" pitchFamily="34" charset="0"/>
                <a:ea typeface="Arial" pitchFamily="34" charset="-122"/>
                <a:cs typeface="Arial" pitchFamily="34" charset="-120"/>
              </a:rPr>
              <a:t>El presupuesto</a:t>
            </a:r>
            <a:pPr indent="0" marL="0">
              <a:buNone/>
            </a:pPr>
            <a:r>
              <a:rPr lang="en-US" sz="1400" b="1" dirty="0">
                <a:solidFill>
                  <a:srgbClr val="0B0B0B"/>
                </a:solidFill>
                <a:latin typeface="Arial" pitchFamily="34" charset="0"/>
                <a:ea typeface="Arial" pitchFamily="34" charset="-122"/>
                <a:cs typeface="Arial" pitchFamily="34" charset="-120"/>
              </a:rPr>
              <a:t>  0,07</a:t>
            </a:r>
            <a:endParaRPr lang="en-US" sz="1400" dirty="0"/>
          </a:p>
        </p:txBody>
      </p:sp>
      <p:sp>
        <p:nvSpPr>
          <p:cNvPr id="215" name="Shape 213"/>
          <p:cNvSpPr/>
          <p:nvPr/>
        </p:nvSpPr>
        <p:spPr>
          <a:xfrm>
            <a:off x="8823960" y="4407408"/>
            <a:ext cx="2544775" cy="182880"/>
          </a:xfrm>
          <a:prstGeom prst="rect">
            <a:avLst/>
          </a:prstGeom>
          <a:solidFill>
            <a:srgbClr val="E1E0D9"/>
          </a:solidFill>
          <a:ln w="12700">
            <a:solidFill>
              <a:srgbClr val="E1E0D9"/>
            </a:solidFill>
            <a:prstDash val="solid"/>
          </a:ln>
        </p:spPr>
      </p:sp>
      <p:sp>
        <p:nvSpPr>
          <p:cNvPr id="216" name="Shape 214"/>
          <p:cNvSpPr/>
          <p:nvPr/>
        </p:nvSpPr>
        <p:spPr>
          <a:xfrm>
            <a:off x="8823960" y="4407408"/>
            <a:ext cx="186685" cy="182880"/>
          </a:xfrm>
          <a:prstGeom prst="rect">
            <a:avLst/>
          </a:prstGeom>
          <a:solidFill>
            <a:srgbClr val="6E6D68"/>
          </a:solidFill>
          <a:ln w="12700">
            <a:solidFill>
              <a:srgbClr val="6E6D68"/>
            </a:solidFill>
            <a:prstDash val="solid"/>
          </a:ln>
        </p:spPr>
      </p:sp>
      <p:sp>
        <p:nvSpPr>
          <p:cNvPr id="217" name="Text 215"/>
          <p:cNvSpPr txBox="1"/>
          <p:nvPr/>
        </p:nvSpPr>
        <p:spPr>
          <a:xfrm>
            <a:off x="8823960" y="5029200"/>
            <a:ext cx="2544775" cy="914400"/>
          </a:xfrm>
          <a:prstGeom prst="rect">
            <a:avLst/>
          </a:prstGeom>
          <a:noFill/>
          <a:ln/>
        </p:spPr>
        <p:txBody>
          <a:bodyPr wrap="square" lIns="0" tIns="0" rIns="0" bIns="0" rtlCol="0" anchor="t"/>
          <a:lstStyle/>
          <a:p>
            <a:pPr indent="0" marL="0">
              <a:buNone/>
            </a:pPr>
            <a:r>
              <a:rPr lang="en-US" sz="1200" dirty="0">
                <a:solidFill>
                  <a:srgbClr val="6E6D68"/>
                </a:solidFill>
                <a:latin typeface="Arial" pitchFamily="34" charset="0"/>
                <a:ea typeface="Arial" pitchFamily="34" charset="-122"/>
                <a:cs typeface="Arial" pitchFamily="34" charset="-120"/>
              </a:rPr>
              <a:t>Correlación de Spearman con el ROI: 0 no ordena nada, 1 lo ordena todo. Invertir más no compra retorno.</a:t>
            </a:r>
            <a:endParaRPr lang="en-US" sz="1200" dirty="0"/>
          </a:p>
        </p:txBody>
      </p:sp>
      <p:sp>
        <p:nvSpPr>
          <p:cNvPr id="218" name="Text 216"/>
          <p:cNvSpPr txBox="1"/>
          <p:nvPr/>
        </p:nvSpPr>
        <p:spPr>
          <a:xfrm>
            <a:off x="548640" y="6355080"/>
            <a:ext cx="9997135" cy="274320"/>
          </a:xfrm>
          <a:prstGeom prst="rect">
            <a:avLst/>
          </a:prstGeom>
          <a:noFill/>
          <a:ln/>
        </p:spPr>
        <p:txBody>
          <a:bodyPr wrap="square" lIns="0" tIns="0" rIns="0" bIns="0" rtlCol="0" anchor="ctr"/>
          <a:lstStyle/>
          <a:p>
            <a:pPr indent="0" marL="0">
              <a:buNone/>
            </a:pPr>
            <a:r>
              <a:rPr lang="en-US" sz="1000" dirty="0">
                <a:solidFill>
                  <a:srgbClr val="6E6D68"/>
                </a:solidFill>
                <a:latin typeface="Arial" pitchFamily="34" charset="0"/>
                <a:ea typeface="Arial" pitchFamily="34" charset="-122"/>
                <a:cs typeface="Arial" pitchFamily="34" charset="-120"/>
              </a:rPr>
              <a:t>Sobre las 3.540 películas con datos financieros válidos. Gráfico completo en la figura 18 del informe.</a:t>
            </a:r>
            <a:endParaRPr lang="en-US" sz="1000" dirty="0"/>
          </a:p>
        </p:txBody>
      </p:sp>
      <p:sp>
        <p:nvSpPr>
          <p:cNvPr id="219" name="Text 217"/>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6E6D68"/>
                </a:solidFill>
                <a:latin typeface="Arial" pitchFamily="34" charset="0"/>
                <a:ea typeface="Arial" pitchFamily="34" charset="-122"/>
                <a:cs typeface="Arial" pitchFamily="34" charset="-120"/>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pic>
        <p:nvPicPr>
          <p:cNvPr id="2" name="Image 0" descr="Nota por país de origen">    </p:cNvPr>
          <p:cNvPicPr>
            <a:picLocks noChangeAspect="1"/>
          </p:cNvPicPr>
          <p:nvPr/>
        </p:nvPicPr>
        <p:blipFill>
          <a:blip r:embed="rId1"/>
          <a:stretch>
            <a:fillRect/>
          </a:stretch>
        </p:blipFill>
        <p:spPr>
          <a:xfrm>
            <a:off x="411480" y="706676"/>
            <a:ext cx="6309360" cy="5261768"/>
          </a:xfrm>
          <a:prstGeom prst="rect">
            <a:avLst/>
          </a:prstGeom>
        </p:spPr>
      </p:pic>
      <p:sp>
        <p:nvSpPr>
          <p:cNvPr id="3" name="Text 0"/>
          <p:cNvSpPr txBox="1"/>
          <p:nvPr/>
        </p:nvSpPr>
        <p:spPr>
          <a:xfrm>
            <a:off x="7086600" y="685800"/>
            <a:ext cx="4556455" cy="274320"/>
          </a:xfrm>
          <a:prstGeom prst="rect">
            <a:avLst/>
          </a:prstGeom>
          <a:noFill/>
          <a:ln/>
        </p:spPr>
        <p:txBody>
          <a:bodyPr wrap="square" lIns="0" tIns="0" rIns="0" bIns="0" rtlCol="0" anchor="ctr"/>
          <a:lstStyle/>
          <a:p>
            <a:pPr indent="0" marL="0">
              <a:buNone/>
            </a:pPr>
            <a:r>
              <a:rPr lang="en-US" sz="1100" b="1" spc="150" kern="0" dirty="0">
                <a:solidFill>
                  <a:srgbClr val="2A78D6"/>
                </a:solidFill>
                <a:latin typeface="Arial" pitchFamily="34" charset="0"/>
                <a:ea typeface="Arial" pitchFamily="34" charset="-122"/>
                <a:cs typeface="Arial" pitchFamily="34" charset="-120"/>
              </a:rPr>
              <a:t>QUÉ IMPLICA · MERCADOS</a:t>
            </a:r>
            <a:endParaRPr lang="en-US" sz="1100" dirty="0"/>
          </a:p>
        </p:txBody>
      </p:sp>
      <p:sp>
        <p:nvSpPr>
          <p:cNvPr id="4" name="Text 1"/>
          <p:cNvSpPr txBox="1"/>
          <p:nvPr/>
        </p:nvSpPr>
        <p:spPr>
          <a:xfrm>
            <a:off x="7086600" y="1005840"/>
            <a:ext cx="4556455" cy="1463040"/>
          </a:xfrm>
          <a:prstGeom prst="rect">
            <a:avLst/>
          </a:prstGeom>
          <a:noFill/>
          <a:ln/>
        </p:spPr>
        <p:txBody>
          <a:bodyPr wrap="square" lIns="0" tIns="0" rIns="0" bIns="0" rtlCol="0" anchor="t"/>
          <a:lstStyle/>
          <a:p>
            <a:pPr indent="0" marL="0">
              <a:lnSpc>
                <a:spcPct val="105000"/>
              </a:lnSpc>
              <a:buNone/>
            </a:pPr>
            <a:r>
              <a:rPr lang="en-US" sz="2800" b="1" dirty="0">
                <a:solidFill>
                  <a:srgbClr val="0B0B0B"/>
                </a:solidFill>
                <a:latin typeface="Arial" pitchFamily="34" charset="0"/>
                <a:ea typeface="Arial" pitchFamily="34" charset="-122"/>
                <a:cs typeface="Arial" pitchFamily="34" charset="-120"/>
              </a:rPr>
              <a:t>Japón y Corea reciben mejor nota con una fracción del catálogo</a:t>
            </a:r>
            <a:endParaRPr lang="en-US" sz="2800" dirty="0"/>
          </a:p>
        </p:txBody>
      </p:sp>
      <p:sp>
        <p:nvSpPr>
          <p:cNvPr id="5" name="Shape 2"/>
          <p:cNvSpPr/>
          <p:nvPr/>
        </p:nvSpPr>
        <p:spPr>
          <a:xfrm>
            <a:off x="7086600" y="2743200"/>
            <a:ext cx="1396898" cy="1188720"/>
          </a:xfrm>
          <a:prstGeom prst="roundRect">
            <a:avLst>
              <a:gd name="adj" fmla="val 6154"/>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6" name="Text 3"/>
          <p:cNvSpPr txBox="1"/>
          <p:nvPr/>
        </p:nvSpPr>
        <p:spPr>
          <a:xfrm>
            <a:off x="7086600" y="2852928"/>
            <a:ext cx="1396898" cy="594360"/>
          </a:xfrm>
          <a:prstGeom prst="rect">
            <a:avLst/>
          </a:prstGeom>
          <a:noFill/>
          <a:ln/>
        </p:spPr>
        <p:txBody>
          <a:bodyPr wrap="square" lIns="0" tIns="0" rIns="0" bIns="0" rtlCol="0" anchor="ctr"/>
          <a:lstStyle/>
          <a:p>
            <a:pPr algn="ctr" indent="0" marL="0">
              <a:buNone/>
            </a:pPr>
            <a:r>
              <a:rPr lang="en-US" sz="3000" b="1" dirty="0">
                <a:solidFill>
                  <a:srgbClr val="0CA30C"/>
                </a:solidFill>
                <a:latin typeface="Arial" pitchFamily="34" charset="0"/>
                <a:ea typeface="Arial" pitchFamily="34" charset="-122"/>
                <a:cs typeface="Arial" pitchFamily="34" charset="-120"/>
              </a:rPr>
              <a:t>7,21</a:t>
            </a:r>
            <a:endParaRPr lang="en-US" sz="3000" dirty="0"/>
          </a:p>
        </p:txBody>
      </p:sp>
      <p:sp>
        <p:nvSpPr>
          <p:cNvPr id="7" name="Text 4"/>
          <p:cNvSpPr txBox="1"/>
          <p:nvPr/>
        </p:nvSpPr>
        <p:spPr>
          <a:xfrm>
            <a:off x="7086600" y="3456432"/>
            <a:ext cx="1396898" cy="320040"/>
          </a:xfrm>
          <a:prstGeom prst="rect">
            <a:avLst/>
          </a:prstGeom>
          <a:noFill/>
          <a:ln/>
        </p:spPr>
        <p:txBody>
          <a:bodyPr wrap="square" lIns="0" tIns="0" rIns="0" bIns="0" rtlCol="0" anchor="ctr"/>
          <a:lstStyle/>
          <a:p>
            <a:pPr algn="ctr" indent="0" marL="0">
              <a:buNone/>
            </a:pPr>
            <a:r>
              <a:rPr lang="en-US" sz="1200" dirty="0">
                <a:solidFill>
                  <a:srgbClr val="52514E"/>
                </a:solidFill>
                <a:latin typeface="Arial" pitchFamily="34" charset="0"/>
                <a:ea typeface="Arial" pitchFamily="34" charset="-122"/>
                <a:cs typeface="Arial" pitchFamily="34" charset="-120"/>
              </a:rPr>
              <a:t>Japón</a:t>
            </a:r>
            <a:endParaRPr lang="en-US" sz="1200" dirty="0"/>
          </a:p>
        </p:txBody>
      </p:sp>
      <p:sp>
        <p:nvSpPr>
          <p:cNvPr id="8" name="Shape 5"/>
          <p:cNvSpPr/>
          <p:nvPr/>
        </p:nvSpPr>
        <p:spPr>
          <a:xfrm>
            <a:off x="8666378" y="2743200"/>
            <a:ext cx="1396898" cy="1188720"/>
          </a:xfrm>
          <a:prstGeom prst="roundRect">
            <a:avLst>
              <a:gd name="adj" fmla="val 6154"/>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9" name="Text 6"/>
          <p:cNvSpPr txBox="1"/>
          <p:nvPr/>
        </p:nvSpPr>
        <p:spPr>
          <a:xfrm>
            <a:off x="8666378" y="2852928"/>
            <a:ext cx="1396898" cy="594360"/>
          </a:xfrm>
          <a:prstGeom prst="rect">
            <a:avLst/>
          </a:prstGeom>
          <a:noFill/>
          <a:ln/>
        </p:spPr>
        <p:txBody>
          <a:bodyPr wrap="square" lIns="0" tIns="0" rIns="0" bIns="0" rtlCol="0" anchor="ctr"/>
          <a:lstStyle/>
          <a:p>
            <a:pPr algn="ctr" indent="0" marL="0">
              <a:buNone/>
            </a:pPr>
            <a:r>
              <a:rPr lang="en-US" sz="3000" b="1" dirty="0">
                <a:solidFill>
                  <a:srgbClr val="0CA30C"/>
                </a:solidFill>
                <a:latin typeface="Arial" pitchFamily="34" charset="0"/>
                <a:ea typeface="Arial" pitchFamily="34" charset="-122"/>
                <a:cs typeface="Arial" pitchFamily="34" charset="-120"/>
              </a:rPr>
              <a:t>7,11</a:t>
            </a:r>
            <a:endParaRPr lang="en-US" sz="3000" dirty="0"/>
          </a:p>
        </p:txBody>
      </p:sp>
      <p:sp>
        <p:nvSpPr>
          <p:cNvPr id="10" name="Text 7"/>
          <p:cNvSpPr txBox="1"/>
          <p:nvPr/>
        </p:nvSpPr>
        <p:spPr>
          <a:xfrm>
            <a:off x="8666378" y="3456432"/>
            <a:ext cx="1396898" cy="320040"/>
          </a:xfrm>
          <a:prstGeom prst="rect">
            <a:avLst/>
          </a:prstGeom>
          <a:noFill/>
          <a:ln/>
        </p:spPr>
        <p:txBody>
          <a:bodyPr wrap="square" lIns="0" tIns="0" rIns="0" bIns="0" rtlCol="0" anchor="ctr"/>
          <a:lstStyle/>
          <a:p>
            <a:pPr algn="ctr" indent="0" marL="0">
              <a:buNone/>
            </a:pPr>
            <a:r>
              <a:rPr lang="en-US" sz="1200" dirty="0">
                <a:solidFill>
                  <a:srgbClr val="52514E"/>
                </a:solidFill>
                <a:latin typeface="Arial" pitchFamily="34" charset="0"/>
                <a:ea typeface="Arial" pitchFamily="34" charset="-122"/>
                <a:cs typeface="Arial" pitchFamily="34" charset="-120"/>
              </a:rPr>
              <a:t>Corea del Sur</a:t>
            </a:r>
            <a:endParaRPr lang="en-US" sz="1200" dirty="0"/>
          </a:p>
        </p:txBody>
      </p:sp>
      <p:sp>
        <p:nvSpPr>
          <p:cNvPr id="11" name="Shape 8"/>
          <p:cNvSpPr/>
          <p:nvPr/>
        </p:nvSpPr>
        <p:spPr>
          <a:xfrm>
            <a:off x="10246157" y="2743200"/>
            <a:ext cx="1396898" cy="1188720"/>
          </a:xfrm>
          <a:prstGeom prst="roundRect">
            <a:avLst>
              <a:gd name="adj" fmla="val 6154"/>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12" name="Text 9"/>
          <p:cNvSpPr txBox="1"/>
          <p:nvPr/>
        </p:nvSpPr>
        <p:spPr>
          <a:xfrm>
            <a:off x="10246157" y="2852928"/>
            <a:ext cx="1396898" cy="594360"/>
          </a:xfrm>
          <a:prstGeom prst="rect">
            <a:avLst/>
          </a:prstGeom>
          <a:noFill/>
          <a:ln/>
        </p:spPr>
        <p:txBody>
          <a:bodyPr wrap="square" lIns="0" tIns="0" rIns="0" bIns="0" rtlCol="0" anchor="ctr"/>
          <a:lstStyle/>
          <a:p>
            <a:pPr algn="ctr" indent="0" marL="0">
              <a:buNone/>
            </a:pPr>
            <a:r>
              <a:rPr lang="en-US" sz="3000" b="1" dirty="0">
                <a:solidFill>
                  <a:srgbClr val="52514E"/>
                </a:solidFill>
                <a:latin typeface="Arial" pitchFamily="34" charset="0"/>
                <a:ea typeface="Arial" pitchFamily="34" charset="-122"/>
                <a:cs typeface="Arial" pitchFamily="34" charset="-120"/>
              </a:rPr>
              <a:t>6,56</a:t>
            </a:r>
            <a:endParaRPr lang="en-US" sz="3000" dirty="0"/>
          </a:p>
        </p:txBody>
      </p:sp>
      <p:sp>
        <p:nvSpPr>
          <p:cNvPr id="13" name="Text 10"/>
          <p:cNvSpPr txBox="1"/>
          <p:nvPr/>
        </p:nvSpPr>
        <p:spPr>
          <a:xfrm>
            <a:off x="10246157" y="3456432"/>
            <a:ext cx="1396898" cy="320040"/>
          </a:xfrm>
          <a:prstGeom prst="rect">
            <a:avLst/>
          </a:prstGeom>
          <a:noFill/>
          <a:ln/>
        </p:spPr>
        <p:txBody>
          <a:bodyPr wrap="square" lIns="0" tIns="0" rIns="0" bIns="0" rtlCol="0" anchor="ctr"/>
          <a:lstStyle/>
          <a:p>
            <a:pPr algn="ctr" indent="0" marL="0">
              <a:buNone/>
            </a:pPr>
            <a:r>
              <a:rPr lang="en-US" sz="1200" dirty="0">
                <a:solidFill>
                  <a:srgbClr val="52514E"/>
                </a:solidFill>
                <a:latin typeface="Arial" pitchFamily="34" charset="0"/>
                <a:ea typeface="Arial" pitchFamily="34" charset="-122"/>
                <a:cs typeface="Arial" pitchFamily="34" charset="-120"/>
              </a:rPr>
              <a:t>Estados Unidos</a:t>
            </a:r>
            <a:endParaRPr lang="en-US" sz="1200" dirty="0"/>
          </a:p>
        </p:txBody>
      </p:sp>
      <p:sp>
        <p:nvSpPr>
          <p:cNvPr id="14" name="Text 11"/>
          <p:cNvSpPr txBox="1"/>
          <p:nvPr/>
        </p:nvSpPr>
        <p:spPr>
          <a:xfrm>
            <a:off x="7086600" y="4251960"/>
            <a:ext cx="4556455" cy="1737360"/>
          </a:xfrm>
          <a:prstGeom prst="rect">
            <a:avLst/>
          </a:prstGeom>
          <a:noFill/>
          <a:ln/>
        </p:spPr>
        <p:txBody>
          <a:bodyPr wrap="square" lIns="0" tIns="0" rIns="0" bIns="0" rtlCol="0" anchor="t"/>
          <a:lstStyle/>
          <a:p>
            <a:pPr indent="0" marL="0">
              <a:lnSpc>
                <a:spcPct val="110000"/>
              </a:lnSpc>
              <a:buNone/>
            </a:pPr>
            <a:r>
              <a:rPr lang="en-US" sz="1500" b="1" dirty="0">
                <a:solidFill>
                  <a:srgbClr val="0B0B0B"/>
                </a:solidFill>
                <a:latin typeface="Arial" pitchFamily="34" charset="0"/>
                <a:ea typeface="Arial" pitchFamily="34" charset="-122"/>
                <a:cs typeface="Arial" pitchFamily="34" charset="-120"/>
              </a:rPr>
              <a:t>Estados Unidos aporta el 48,5% de las películas</a:t>
            </a:r>
            <a:pPr indent="0" marL="0">
              <a:lnSpc>
                <a:spcPct val="110000"/>
              </a:lnSpc>
              <a:buNone/>
            </a:pPr>
            <a:r>
              <a:rPr lang="en-US" sz="1500" dirty="0">
                <a:solidFill>
                  <a:srgbClr val="52514E"/>
                </a:solidFill>
                <a:latin typeface="Arial" pitchFamily="34" charset="0"/>
                <a:ea typeface="Arial" pitchFamily="34" charset="-122"/>
                <a:cs typeface="Arial" pitchFamily="34" charset="-120"/>
              </a:rPr>
              <a:t> y queda en el puesto 15 de 24.</a:t>
            </a:r>
            <a:endParaRPr lang="en-US" sz="1500" dirty="0"/>
          </a:p>
          <a:p>
            <a:pPr indent="0" marL="0">
              <a:lnSpc>
                <a:spcPct val="110000"/>
              </a:lnSpc>
              <a:buNone/>
            </a:pPr>
            <a:r>
              <a:rPr lang="en-US" sz="800" dirty="0">
                <a:solidFill>
                  <a:srgbClr val="000000"/>
                </a:solidFill>
                <a:latin typeface="Arial" pitchFamily="34" charset="0"/>
                <a:ea typeface="Arial" pitchFamily="34" charset="-122"/>
                <a:cs typeface="Arial" pitchFamily="34" charset="-120"/>
              </a:rPr>
              <a:t> </a:t>
            </a:r>
            <a:endParaRPr lang="en-US" sz="1500" dirty="0"/>
          </a:p>
          <a:p>
            <a:pPr indent="0" marL="0">
              <a:lnSpc>
                <a:spcPct val="110000"/>
              </a:lnSpc>
              <a:buNone/>
            </a:pPr>
            <a:r>
              <a:rPr lang="en-US" sz="1500" b="1" dirty="0">
                <a:solidFill>
                  <a:srgbClr val="0B0B0B"/>
                </a:solidFill>
                <a:latin typeface="Arial" pitchFamily="34" charset="0"/>
                <a:ea typeface="Arial" pitchFamily="34" charset="-122"/>
                <a:cs typeface="Arial" pitchFamily="34" charset="-120"/>
              </a:rPr>
              <a:t>El corte por idioma ordena igual: </a:t>
            </a:r>
            <a:pPr indent="0" marL="0">
              <a:lnSpc>
                <a:spcPct val="110000"/>
              </a:lnSpc>
              <a:buNone/>
            </a:pPr>
            <a:r>
              <a:rPr lang="en-US" sz="1500" dirty="0">
                <a:solidFill>
                  <a:srgbClr val="52514E"/>
                </a:solidFill>
                <a:latin typeface="Arial" pitchFamily="34" charset="0"/>
                <a:ea typeface="Arial" pitchFamily="34" charset="-122"/>
                <a:cs typeface="Arial" pitchFamily="34" charset="-120"/>
              </a:rPr>
              <a:t>es el mismo patrón visto dos veces, no una casualidad de un corte.</a:t>
            </a:r>
            <a:endParaRPr lang="en-US" sz="1500" dirty="0"/>
          </a:p>
        </p:txBody>
      </p:sp>
      <p:sp>
        <p:nvSpPr>
          <p:cNvPr id="15" name="Text 12"/>
          <p:cNvSpPr txBox="1"/>
          <p:nvPr/>
        </p:nvSpPr>
        <p:spPr>
          <a:xfrm>
            <a:off x="548640" y="6355080"/>
            <a:ext cx="9997135" cy="274320"/>
          </a:xfrm>
          <a:prstGeom prst="rect">
            <a:avLst/>
          </a:prstGeom>
          <a:noFill/>
          <a:ln/>
        </p:spPr>
        <p:txBody>
          <a:bodyPr wrap="square" lIns="0" tIns="0" rIns="0" bIns="0" rtlCol="0" anchor="ctr"/>
          <a:lstStyle/>
          <a:p>
            <a:pPr indent="0" marL="0">
              <a:buNone/>
            </a:pPr>
            <a:r>
              <a:rPr lang="en-US" sz="1000" dirty="0">
                <a:solidFill>
                  <a:srgbClr val="6E6D68"/>
                </a:solidFill>
                <a:latin typeface="Arial" pitchFamily="34" charset="0"/>
                <a:ea typeface="Arial" pitchFamily="34" charset="-122"/>
                <a:cs typeface="Arial" pitchFamily="34" charset="-120"/>
              </a:rPr>
              <a:t>Países con ≥150 títulos con votación suficiente. Un título coproducido cuenta en cada país que lo lista.</a:t>
            </a:r>
            <a:endParaRPr lang="en-US" sz="1000" dirty="0"/>
          </a:p>
        </p:txBody>
      </p:sp>
      <p:sp>
        <p:nvSpPr>
          <p:cNvPr id="16" name="Text 13"/>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6E6D68"/>
                </a:solidFill>
                <a:latin typeface="Arial" pitchFamily="34" charset="0"/>
                <a:ea typeface="Arial" pitchFamily="34" charset="-122"/>
                <a:cs typeface="Arial"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274320"/>
          </a:xfrm>
          <a:prstGeom prst="rect">
            <a:avLst/>
          </a:prstGeom>
          <a:noFill/>
          <a:ln/>
        </p:spPr>
        <p:txBody>
          <a:bodyPr wrap="square" lIns="0" tIns="0" rIns="0" bIns="0" rtlCol="0" anchor="ctr"/>
          <a:lstStyle/>
          <a:p>
            <a:pPr indent="0" marL="0">
              <a:buNone/>
            </a:pPr>
            <a:r>
              <a:rPr lang="en-US" sz="1100" b="1" spc="150" kern="0" dirty="0">
                <a:solidFill>
                  <a:srgbClr val="2A78D6"/>
                </a:solidFill>
                <a:latin typeface="Arial" pitchFamily="34" charset="0"/>
                <a:ea typeface="Arial" pitchFamily="34" charset="-122"/>
                <a:cs typeface="Arial" pitchFamily="34" charset="-120"/>
              </a:rPr>
              <a:t>QUÉ RECOMENDAMOS</a:t>
            </a:r>
            <a:endParaRPr lang="en-US" sz="1100" dirty="0"/>
          </a:p>
        </p:txBody>
      </p:sp>
      <p:sp>
        <p:nvSpPr>
          <p:cNvPr id="3" name="Text 1"/>
          <p:cNvSpPr txBox="1"/>
          <p:nvPr/>
        </p:nvSpPr>
        <p:spPr>
          <a:xfrm>
            <a:off x="548640" y="868680"/>
            <a:ext cx="11094415" cy="640080"/>
          </a:xfrm>
          <a:prstGeom prst="rect">
            <a:avLst/>
          </a:prstGeom>
          <a:noFill/>
          <a:ln/>
        </p:spPr>
        <p:txBody>
          <a:bodyPr wrap="square" lIns="0" tIns="0" rIns="0" bIns="0" rtlCol="0" anchor="t"/>
          <a:lstStyle/>
          <a:p>
            <a:pPr indent="0" marL="0">
              <a:lnSpc>
                <a:spcPct val="105000"/>
              </a:lnSpc>
              <a:buNone/>
            </a:pPr>
            <a:r>
              <a:rPr lang="en-US" sz="3200" b="1" dirty="0">
                <a:solidFill>
                  <a:srgbClr val="0B0B0B"/>
                </a:solidFill>
                <a:latin typeface="Arial" pitchFamily="34" charset="0"/>
                <a:ea typeface="Arial" pitchFamily="34" charset="-122"/>
                <a:cs typeface="Arial" pitchFamily="34" charset="-120"/>
              </a:rPr>
              <a:t>Tres decisiones, cada una con su meta y su evidencia</a:t>
            </a:r>
            <a:endParaRPr lang="en-US" sz="3200" dirty="0"/>
          </a:p>
        </p:txBody>
      </p:sp>
      <p:sp>
        <p:nvSpPr>
          <p:cNvPr id="4" name="Shape 2"/>
          <p:cNvSpPr/>
          <p:nvPr/>
        </p:nvSpPr>
        <p:spPr>
          <a:xfrm>
            <a:off x="548640" y="1691640"/>
            <a:ext cx="3515258" cy="4434840"/>
          </a:xfrm>
          <a:prstGeom prst="roundRect">
            <a:avLst>
              <a:gd name="adj" fmla="val 2081"/>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5" name="Shape 3"/>
          <p:cNvSpPr/>
          <p:nvPr/>
        </p:nvSpPr>
        <p:spPr>
          <a:xfrm>
            <a:off x="822960" y="1965960"/>
            <a:ext cx="502920" cy="502920"/>
          </a:xfrm>
          <a:prstGeom prst="ellipse">
            <a:avLst/>
          </a:prstGeom>
          <a:solidFill>
            <a:srgbClr val="0CA30C"/>
          </a:solidFill>
          <a:ln w="12700">
            <a:solidFill>
              <a:srgbClr val="0CA30C"/>
            </a:solidFill>
            <a:prstDash val="solid"/>
          </a:ln>
        </p:spPr>
      </p:sp>
      <p:sp>
        <p:nvSpPr>
          <p:cNvPr id="6" name="Text 4"/>
          <p:cNvSpPr txBox="1"/>
          <p:nvPr/>
        </p:nvSpPr>
        <p:spPr>
          <a:xfrm>
            <a:off x="822960"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22960" y="2606040"/>
            <a:ext cx="2966618" cy="868680"/>
          </a:xfrm>
          <a:prstGeom prst="rect">
            <a:avLst/>
          </a:prstGeom>
          <a:noFill/>
          <a:ln/>
        </p:spPr>
        <p:txBody>
          <a:bodyPr wrap="square" lIns="0" tIns="0" rIns="0" bIns="0" rtlCol="0" anchor="t"/>
          <a:lstStyle/>
          <a:p>
            <a:pPr indent="0" marL="0">
              <a:buNone/>
            </a:pPr>
            <a:r>
              <a:rPr lang="en-US" sz="1600" b="1" dirty="0">
                <a:solidFill>
                  <a:srgbClr val="0B0B0B"/>
                </a:solidFill>
                <a:latin typeface="Arial" pitchFamily="34" charset="0"/>
                <a:ea typeface="Arial" pitchFamily="34" charset="-122"/>
                <a:cs typeface="Arial" pitchFamily="34" charset="-120"/>
              </a:rPr>
              <a:t>Reequilibrar hacia los géneros que ganan dos veces</a:t>
            </a:r>
            <a:endParaRPr lang="en-US" sz="1600" dirty="0"/>
          </a:p>
        </p:txBody>
      </p:sp>
      <p:sp>
        <p:nvSpPr>
          <p:cNvPr id="8" name="Text 6"/>
          <p:cNvSpPr txBox="1"/>
          <p:nvPr/>
        </p:nvSpPr>
        <p:spPr>
          <a:xfrm>
            <a:off x="822960" y="3538728"/>
            <a:ext cx="2966618" cy="1188720"/>
          </a:xfrm>
          <a:prstGeom prst="rect">
            <a:avLst/>
          </a:prstGeom>
          <a:noFill/>
          <a:ln/>
        </p:spPr>
        <p:txBody>
          <a:bodyPr wrap="square" lIns="0" tIns="0" rIns="0" bIns="0" rtlCol="0" anchor="t"/>
          <a:lstStyle/>
          <a:p>
            <a:pPr indent="0" marL="0">
              <a:lnSpc>
                <a:spcPct val="110000"/>
              </a:lnSpc>
              <a:buNone/>
            </a:pPr>
            <a:r>
              <a:rPr lang="en-US" sz="1300" dirty="0">
                <a:solidFill>
                  <a:srgbClr val="52514E"/>
                </a:solidFill>
                <a:latin typeface="Arial" pitchFamily="34" charset="0"/>
                <a:ea typeface="Arial" pitchFamily="34" charset="-122"/>
                <a:cs typeface="Arial" pitchFamily="34" charset="-120"/>
              </a:rPr>
              <a:t>Animación, familiar, aventura y musical: los únicos sobre la mediana en recepción y en retorno. No es dejar de producir terror: es mover el margen de crecimiento.</a:t>
            </a:r>
            <a:endParaRPr lang="en-US" sz="1300" dirty="0"/>
          </a:p>
        </p:txBody>
      </p:sp>
      <p:sp>
        <p:nvSpPr>
          <p:cNvPr id="9" name="Shape 7"/>
          <p:cNvSpPr/>
          <p:nvPr/>
        </p:nvSpPr>
        <p:spPr>
          <a:xfrm>
            <a:off x="822960" y="4800600"/>
            <a:ext cx="2966618" cy="0"/>
          </a:xfrm>
          <a:prstGeom prst="line">
            <a:avLst/>
          </a:prstGeom>
          <a:noFill/>
          <a:ln w="9525">
            <a:solidFill>
              <a:srgbClr val="E1E0D9"/>
            </a:solidFill>
            <a:prstDash val="solid"/>
          </a:ln>
        </p:spPr>
      </p:sp>
      <p:sp>
        <p:nvSpPr>
          <p:cNvPr id="10" name="Text 8"/>
          <p:cNvSpPr txBox="1"/>
          <p:nvPr/>
        </p:nvSpPr>
        <p:spPr>
          <a:xfrm>
            <a:off x="822960" y="4910328"/>
            <a:ext cx="2966618" cy="502920"/>
          </a:xfrm>
          <a:prstGeom prst="rect">
            <a:avLst/>
          </a:prstGeom>
          <a:noFill/>
          <a:ln/>
        </p:spPr>
        <p:txBody>
          <a:bodyPr wrap="square" lIns="0" tIns="0" rIns="0" bIns="0" rtlCol="0" anchor="ctr"/>
          <a:lstStyle/>
          <a:p>
            <a:pPr indent="0" marL="0">
              <a:buNone/>
            </a:pPr>
            <a:r>
              <a:rPr lang="en-US" sz="2400" b="1" dirty="0">
                <a:solidFill>
                  <a:srgbClr val="0B0B0B"/>
                </a:solidFill>
                <a:latin typeface="Arial" pitchFamily="34" charset="0"/>
                <a:ea typeface="Arial" pitchFamily="34" charset="-122"/>
                <a:cs typeface="Arial" pitchFamily="34" charset="-120"/>
              </a:rPr>
              <a:t>22,4% → 30%</a:t>
            </a:r>
            <a:endParaRPr lang="en-US" sz="2400" dirty="0"/>
          </a:p>
        </p:txBody>
      </p:sp>
      <p:sp>
        <p:nvSpPr>
          <p:cNvPr id="11" name="Text 9"/>
          <p:cNvSpPr txBox="1"/>
          <p:nvPr/>
        </p:nvSpPr>
        <p:spPr>
          <a:xfrm>
            <a:off x="822960" y="5394960"/>
            <a:ext cx="2966618" cy="274320"/>
          </a:xfrm>
          <a:prstGeom prst="rect">
            <a:avLst/>
          </a:prstGeom>
          <a:noFill/>
          <a:ln/>
        </p:spPr>
        <p:txBody>
          <a:bodyPr wrap="square" lIns="0" tIns="0" rIns="0" bIns="0" rtlCol="0" anchor="ctr"/>
          <a:lstStyle/>
          <a:p>
            <a:pPr indent="0" marL="0">
              <a:buNone/>
            </a:pPr>
            <a:r>
              <a:rPr lang="en-US" sz="1200" dirty="0">
                <a:solidFill>
                  <a:srgbClr val="52514E"/>
                </a:solidFill>
                <a:latin typeface="Arial" pitchFamily="34" charset="0"/>
                <a:ea typeface="Arial" pitchFamily="34" charset="-122"/>
                <a:cs typeface="Arial" pitchFamily="34" charset="-120"/>
              </a:rPr>
              <a:t>de las adquisiciones en 12 meses</a:t>
            </a:r>
            <a:endParaRPr lang="en-US" sz="1200" dirty="0"/>
          </a:p>
        </p:txBody>
      </p:sp>
      <p:sp>
        <p:nvSpPr>
          <p:cNvPr id="12" name="Text 10"/>
          <p:cNvSpPr txBox="1"/>
          <p:nvPr/>
        </p:nvSpPr>
        <p:spPr>
          <a:xfrm>
            <a:off x="822960" y="5696712"/>
            <a:ext cx="2966618" cy="274320"/>
          </a:xfrm>
          <a:prstGeom prst="rect">
            <a:avLst/>
          </a:prstGeom>
          <a:noFill/>
          <a:ln/>
        </p:spPr>
        <p:txBody>
          <a:bodyPr wrap="square" lIns="0" tIns="0" rIns="0" bIns="0" rtlCol="0" anchor="ctr"/>
          <a:lstStyle/>
          <a:p>
            <a:pPr indent="0" marL="0">
              <a:buNone/>
            </a:pPr>
            <a:r>
              <a:rPr lang="en-US" sz="1100" dirty="0">
                <a:solidFill>
                  <a:srgbClr val="6E6D68"/>
                </a:solidFill>
                <a:latin typeface="Arial" pitchFamily="34" charset="0"/>
                <a:ea typeface="Arial" pitchFamily="34" charset="-122"/>
                <a:cs typeface="Arial" pitchFamily="34" charset="-120"/>
              </a:rPr>
              <a:t>Evidencia: láminas 5 y 6</a:t>
            </a:r>
            <a:endParaRPr lang="en-US" sz="1100" dirty="0"/>
          </a:p>
        </p:txBody>
      </p:sp>
      <p:sp>
        <p:nvSpPr>
          <p:cNvPr id="13" name="Shape 11"/>
          <p:cNvSpPr/>
          <p:nvPr/>
        </p:nvSpPr>
        <p:spPr>
          <a:xfrm>
            <a:off x="4338218" y="1691640"/>
            <a:ext cx="3515258" cy="4434840"/>
          </a:xfrm>
          <a:prstGeom prst="roundRect">
            <a:avLst>
              <a:gd name="adj" fmla="val 2081"/>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14" name="Shape 12"/>
          <p:cNvSpPr/>
          <p:nvPr/>
        </p:nvSpPr>
        <p:spPr>
          <a:xfrm>
            <a:off x="4612538" y="1965960"/>
            <a:ext cx="502920" cy="502920"/>
          </a:xfrm>
          <a:prstGeom prst="ellipse">
            <a:avLst/>
          </a:prstGeom>
          <a:solidFill>
            <a:srgbClr val="0CA30C"/>
          </a:solidFill>
          <a:ln w="12700">
            <a:solidFill>
              <a:srgbClr val="0CA30C"/>
            </a:solidFill>
            <a:prstDash val="solid"/>
          </a:ln>
        </p:spPr>
      </p:sp>
      <p:sp>
        <p:nvSpPr>
          <p:cNvPr id="15" name="Text 13"/>
          <p:cNvSpPr txBox="1"/>
          <p:nvPr/>
        </p:nvSpPr>
        <p:spPr>
          <a:xfrm>
            <a:off x="4612538"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txBox="1"/>
          <p:nvPr/>
        </p:nvSpPr>
        <p:spPr>
          <a:xfrm>
            <a:off x="4612538" y="2606040"/>
            <a:ext cx="2966618" cy="868680"/>
          </a:xfrm>
          <a:prstGeom prst="rect">
            <a:avLst/>
          </a:prstGeom>
          <a:noFill/>
          <a:ln/>
        </p:spPr>
        <p:txBody>
          <a:bodyPr wrap="square" lIns="0" tIns="0" rIns="0" bIns="0" rtlCol="0" anchor="t"/>
          <a:lstStyle/>
          <a:p>
            <a:pPr indent="0" marL="0">
              <a:buNone/>
            </a:pPr>
            <a:r>
              <a:rPr lang="en-US" sz="1600" b="1" dirty="0">
                <a:solidFill>
                  <a:srgbClr val="0B0B0B"/>
                </a:solidFill>
                <a:latin typeface="Arial" pitchFamily="34" charset="0"/>
                <a:ea typeface="Arial" pitchFamily="34" charset="-122"/>
                <a:cs typeface="Arial" pitchFamily="34" charset="-120"/>
              </a:rPr>
              <a:t>Abrir línea de adquisición en Japón y Corea del Sur</a:t>
            </a:r>
            <a:endParaRPr lang="en-US" sz="1600" dirty="0"/>
          </a:p>
        </p:txBody>
      </p:sp>
      <p:sp>
        <p:nvSpPr>
          <p:cNvPr id="17" name="Text 15"/>
          <p:cNvSpPr txBox="1"/>
          <p:nvPr/>
        </p:nvSpPr>
        <p:spPr>
          <a:xfrm>
            <a:off x="4612538" y="3538728"/>
            <a:ext cx="2966618" cy="1188720"/>
          </a:xfrm>
          <a:prstGeom prst="rect">
            <a:avLst/>
          </a:prstGeom>
          <a:noFill/>
          <a:ln/>
        </p:spPr>
        <p:txBody>
          <a:bodyPr wrap="square" lIns="0" tIns="0" rIns="0" bIns="0" rtlCol="0" anchor="t"/>
          <a:lstStyle/>
          <a:p>
            <a:pPr indent="0" marL="0">
              <a:lnSpc>
                <a:spcPct val="110000"/>
              </a:lnSpc>
              <a:buNone/>
            </a:pPr>
            <a:r>
              <a:rPr lang="en-US" sz="1300" dirty="0">
                <a:solidFill>
                  <a:srgbClr val="52514E"/>
                </a:solidFill>
                <a:latin typeface="Arial" pitchFamily="34" charset="0"/>
                <a:ea typeface="Arial" pitchFamily="34" charset="-122"/>
                <a:cs typeface="Arial" pitchFamily="34" charset="-120"/>
              </a:rPr>
              <a:t>Encabezan la recepción y hoy son el 11,6% de las películas. No es una conclusión sobre calidad nacional: es subrepresentación relativa.</a:t>
            </a:r>
            <a:endParaRPr lang="en-US" sz="1300" dirty="0"/>
          </a:p>
        </p:txBody>
      </p:sp>
      <p:sp>
        <p:nvSpPr>
          <p:cNvPr id="18" name="Shape 16"/>
          <p:cNvSpPr/>
          <p:nvPr/>
        </p:nvSpPr>
        <p:spPr>
          <a:xfrm>
            <a:off x="4612538" y="4800600"/>
            <a:ext cx="2966618" cy="0"/>
          </a:xfrm>
          <a:prstGeom prst="line">
            <a:avLst/>
          </a:prstGeom>
          <a:noFill/>
          <a:ln w="9525">
            <a:solidFill>
              <a:srgbClr val="E1E0D9"/>
            </a:solidFill>
            <a:prstDash val="solid"/>
          </a:ln>
        </p:spPr>
      </p:sp>
      <p:sp>
        <p:nvSpPr>
          <p:cNvPr id="19" name="Text 17"/>
          <p:cNvSpPr txBox="1"/>
          <p:nvPr/>
        </p:nvSpPr>
        <p:spPr>
          <a:xfrm>
            <a:off x="4612538" y="4910328"/>
            <a:ext cx="2966618" cy="502920"/>
          </a:xfrm>
          <a:prstGeom prst="rect">
            <a:avLst/>
          </a:prstGeom>
          <a:noFill/>
          <a:ln/>
        </p:spPr>
        <p:txBody>
          <a:bodyPr wrap="square" lIns="0" tIns="0" rIns="0" bIns="0" rtlCol="0" anchor="ctr"/>
          <a:lstStyle/>
          <a:p>
            <a:pPr indent="0" marL="0">
              <a:buNone/>
            </a:pPr>
            <a:r>
              <a:rPr lang="en-US" sz="2400" b="1" dirty="0">
                <a:solidFill>
                  <a:srgbClr val="0B0B0B"/>
                </a:solidFill>
                <a:latin typeface="Arial" pitchFamily="34" charset="0"/>
                <a:ea typeface="Arial" pitchFamily="34" charset="-122"/>
                <a:cs typeface="Arial" pitchFamily="34" charset="-120"/>
              </a:rPr>
              <a:t>11,6% → 18%</a:t>
            </a:r>
            <a:endParaRPr lang="en-US" sz="2400" dirty="0"/>
          </a:p>
        </p:txBody>
      </p:sp>
      <p:sp>
        <p:nvSpPr>
          <p:cNvPr id="20" name="Text 18"/>
          <p:cNvSpPr txBox="1"/>
          <p:nvPr/>
        </p:nvSpPr>
        <p:spPr>
          <a:xfrm>
            <a:off x="4612538" y="5394960"/>
            <a:ext cx="2966618" cy="274320"/>
          </a:xfrm>
          <a:prstGeom prst="rect">
            <a:avLst/>
          </a:prstGeom>
          <a:noFill/>
          <a:ln/>
        </p:spPr>
        <p:txBody>
          <a:bodyPr wrap="square" lIns="0" tIns="0" rIns="0" bIns="0" rtlCol="0" anchor="ctr"/>
          <a:lstStyle/>
          <a:p>
            <a:pPr indent="0" marL="0">
              <a:buNone/>
            </a:pPr>
            <a:r>
              <a:rPr lang="en-US" sz="1200" dirty="0">
                <a:solidFill>
                  <a:srgbClr val="52514E"/>
                </a:solidFill>
                <a:latin typeface="Arial" pitchFamily="34" charset="0"/>
                <a:ea typeface="Arial" pitchFamily="34" charset="-122"/>
                <a:cs typeface="Arial" pitchFamily="34" charset="-120"/>
              </a:rPr>
              <a:t>del catálogo de películas en 12 meses</a:t>
            </a:r>
            <a:endParaRPr lang="en-US" sz="1200" dirty="0"/>
          </a:p>
        </p:txBody>
      </p:sp>
      <p:sp>
        <p:nvSpPr>
          <p:cNvPr id="21" name="Text 19"/>
          <p:cNvSpPr txBox="1"/>
          <p:nvPr/>
        </p:nvSpPr>
        <p:spPr>
          <a:xfrm>
            <a:off x="4612538" y="5696712"/>
            <a:ext cx="2966618" cy="274320"/>
          </a:xfrm>
          <a:prstGeom prst="rect">
            <a:avLst/>
          </a:prstGeom>
          <a:noFill/>
          <a:ln/>
        </p:spPr>
        <p:txBody>
          <a:bodyPr wrap="square" lIns="0" tIns="0" rIns="0" bIns="0" rtlCol="0" anchor="ctr"/>
          <a:lstStyle/>
          <a:p>
            <a:pPr indent="0" marL="0">
              <a:buNone/>
            </a:pPr>
            <a:r>
              <a:rPr lang="en-US" sz="1100" dirty="0">
                <a:solidFill>
                  <a:srgbClr val="6E6D68"/>
                </a:solidFill>
                <a:latin typeface="Arial" pitchFamily="34" charset="0"/>
                <a:ea typeface="Arial" pitchFamily="34" charset="-122"/>
                <a:cs typeface="Arial" pitchFamily="34" charset="-120"/>
              </a:rPr>
              <a:t>Evidencia: lámina 8</a:t>
            </a:r>
            <a:endParaRPr lang="en-US" sz="1100" dirty="0"/>
          </a:p>
        </p:txBody>
      </p:sp>
      <p:sp>
        <p:nvSpPr>
          <p:cNvPr id="22" name="Shape 20"/>
          <p:cNvSpPr/>
          <p:nvPr/>
        </p:nvSpPr>
        <p:spPr>
          <a:xfrm>
            <a:off x="8127797" y="1691640"/>
            <a:ext cx="3515258" cy="4434840"/>
          </a:xfrm>
          <a:prstGeom prst="roundRect">
            <a:avLst>
              <a:gd name="adj" fmla="val 2081"/>
            </a:avLst>
          </a:prstGeom>
          <a:solidFill>
            <a:srgbClr val="FFFFFF"/>
          </a:solidFill>
          <a:ln w="9525">
            <a:solidFill>
              <a:srgbClr val="E1E0D9"/>
            </a:solidFill>
            <a:prstDash val="solid"/>
          </a:ln>
          <a:effectLst>
            <a:outerShdw sx="100000" sy="100000" kx="0" ky="0" algn="bl" rotWithShape="0" blurRad="76200" dist="19050" dir="5400000">
              <a:srgbClr val="000000">
                <a:alpha val="6000"/>
              </a:srgbClr>
            </a:outerShdw>
          </a:effectLst>
        </p:spPr>
      </p:sp>
      <p:sp>
        <p:nvSpPr>
          <p:cNvPr id="23" name="Shape 21"/>
          <p:cNvSpPr/>
          <p:nvPr/>
        </p:nvSpPr>
        <p:spPr>
          <a:xfrm>
            <a:off x="8402117" y="1965960"/>
            <a:ext cx="502920" cy="502920"/>
          </a:xfrm>
          <a:prstGeom prst="ellipse">
            <a:avLst/>
          </a:prstGeom>
          <a:solidFill>
            <a:srgbClr val="0CA30C"/>
          </a:solidFill>
          <a:ln w="12700">
            <a:solidFill>
              <a:srgbClr val="0CA30C"/>
            </a:solidFill>
            <a:prstDash val="solid"/>
          </a:ln>
        </p:spPr>
      </p:sp>
      <p:sp>
        <p:nvSpPr>
          <p:cNvPr id="24" name="Text 22"/>
          <p:cNvSpPr txBox="1"/>
          <p:nvPr/>
        </p:nvSpPr>
        <p:spPr>
          <a:xfrm>
            <a:off x="8402117" y="19659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5" name="Text 23"/>
          <p:cNvSpPr txBox="1"/>
          <p:nvPr/>
        </p:nvSpPr>
        <p:spPr>
          <a:xfrm>
            <a:off x="8402117" y="2606040"/>
            <a:ext cx="2966618" cy="868680"/>
          </a:xfrm>
          <a:prstGeom prst="rect">
            <a:avLst/>
          </a:prstGeom>
          <a:noFill/>
          <a:ln/>
        </p:spPr>
        <p:txBody>
          <a:bodyPr wrap="square" lIns="0" tIns="0" rIns="0" bIns="0" rtlCol="0" anchor="t"/>
          <a:lstStyle/>
          <a:p>
            <a:pPr indent="0" marL="0">
              <a:buNone/>
            </a:pPr>
            <a:r>
              <a:rPr lang="en-US" sz="1600" b="1" dirty="0">
                <a:solidFill>
                  <a:srgbClr val="0B0B0B"/>
                </a:solidFill>
                <a:latin typeface="Arial" pitchFamily="34" charset="0"/>
                <a:ea typeface="Arial" pitchFamily="34" charset="-122"/>
                <a:cs typeface="Arial" pitchFamily="34" charset="-120"/>
              </a:rPr>
              <a:t>Condicionar el presupuesto a la recepción esperada</a:t>
            </a:r>
            <a:endParaRPr lang="en-US" sz="1600" dirty="0"/>
          </a:p>
        </p:txBody>
      </p:sp>
      <p:sp>
        <p:nvSpPr>
          <p:cNvPr id="26" name="Text 24"/>
          <p:cNvSpPr txBox="1"/>
          <p:nvPr/>
        </p:nvSpPr>
        <p:spPr>
          <a:xfrm>
            <a:off x="8402117" y="3538728"/>
            <a:ext cx="2966618" cy="1188720"/>
          </a:xfrm>
          <a:prstGeom prst="rect">
            <a:avLst/>
          </a:prstGeom>
          <a:noFill/>
          <a:ln/>
        </p:spPr>
        <p:txBody>
          <a:bodyPr wrap="square" lIns="0" tIns="0" rIns="0" bIns="0" rtlCol="0" anchor="t"/>
          <a:lstStyle/>
          <a:p>
            <a:pPr indent="0" marL="0">
              <a:lnSpc>
                <a:spcPct val="110000"/>
              </a:lnSpc>
              <a:buNone/>
            </a:pPr>
            <a:r>
              <a:rPr lang="en-US" sz="1300" dirty="0">
                <a:solidFill>
                  <a:srgbClr val="52514E"/>
                </a:solidFill>
                <a:latin typeface="Arial" pitchFamily="34" charset="0"/>
                <a:ea typeface="Arial" pitchFamily="34" charset="-122"/>
                <a:cs typeface="Arial" pitchFamily="34" charset="-120"/>
              </a:rPr>
              <a:t>Ningún proyecto del cuartil superior de presupuesto sin evidencia de recepción comparable. El presupuesto por sí solo no compra retorno.</a:t>
            </a:r>
            <a:endParaRPr lang="en-US" sz="1300" dirty="0"/>
          </a:p>
        </p:txBody>
      </p:sp>
      <p:sp>
        <p:nvSpPr>
          <p:cNvPr id="27" name="Shape 25"/>
          <p:cNvSpPr/>
          <p:nvPr/>
        </p:nvSpPr>
        <p:spPr>
          <a:xfrm>
            <a:off x="8402117" y="4800600"/>
            <a:ext cx="2966618" cy="0"/>
          </a:xfrm>
          <a:prstGeom prst="line">
            <a:avLst/>
          </a:prstGeom>
          <a:noFill/>
          <a:ln w="9525">
            <a:solidFill>
              <a:srgbClr val="E1E0D9"/>
            </a:solidFill>
            <a:prstDash val="solid"/>
          </a:ln>
        </p:spPr>
      </p:sp>
      <p:sp>
        <p:nvSpPr>
          <p:cNvPr id="28" name="Text 26"/>
          <p:cNvSpPr txBox="1"/>
          <p:nvPr/>
        </p:nvSpPr>
        <p:spPr>
          <a:xfrm>
            <a:off x="8402117" y="4910328"/>
            <a:ext cx="2966618" cy="502920"/>
          </a:xfrm>
          <a:prstGeom prst="rect">
            <a:avLst/>
          </a:prstGeom>
          <a:noFill/>
          <a:ln/>
        </p:spPr>
        <p:txBody>
          <a:bodyPr wrap="square" lIns="0" tIns="0" rIns="0" bIns="0" rtlCol="0" anchor="ctr"/>
          <a:lstStyle/>
          <a:p>
            <a:pPr indent="0" marL="0">
              <a:buNone/>
            </a:pPr>
            <a:r>
              <a:rPr lang="en-US" sz="2400" b="1" dirty="0">
                <a:solidFill>
                  <a:srgbClr val="0B0B0B"/>
                </a:solidFill>
                <a:latin typeface="Arial" pitchFamily="34" charset="0"/>
                <a:ea typeface="Arial" pitchFamily="34" charset="-122"/>
                <a:cs typeface="Arial" pitchFamily="34" charset="-120"/>
              </a:rPr>
              <a:t>36,7% → 30%</a:t>
            </a:r>
            <a:endParaRPr lang="en-US" sz="2400" dirty="0"/>
          </a:p>
        </p:txBody>
      </p:sp>
      <p:sp>
        <p:nvSpPr>
          <p:cNvPr id="29" name="Text 27"/>
          <p:cNvSpPr txBox="1"/>
          <p:nvPr/>
        </p:nvSpPr>
        <p:spPr>
          <a:xfrm>
            <a:off x="8402117" y="5394960"/>
            <a:ext cx="2966618" cy="274320"/>
          </a:xfrm>
          <a:prstGeom prst="rect">
            <a:avLst/>
          </a:prstGeom>
          <a:noFill/>
          <a:ln/>
        </p:spPr>
        <p:txBody>
          <a:bodyPr wrap="square" lIns="0" tIns="0" rIns="0" bIns="0" rtlCol="0" anchor="ctr"/>
          <a:lstStyle/>
          <a:p>
            <a:pPr indent="0" marL="0">
              <a:buNone/>
            </a:pPr>
            <a:r>
              <a:rPr lang="en-US" sz="1200" dirty="0">
                <a:solidFill>
                  <a:srgbClr val="52514E"/>
                </a:solidFill>
                <a:latin typeface="Arial" pitchFamily="34" charset="0"/>
                <a:ea typeface="Arial" pitchFamily="34" charset="-122"/>
                <a:cs typeface="Arial" pitchFamily="34" charset="-120"/>
              </a:rPr>
              <a:t>de películas que no recupera lo invertido</a:t>
            </a:r>
            <a:endParaRPr lang="en-US" sz="1200" dirty="0"/>
          </a:p>
        </p:txBody>
      </p:sp>
      <p:sp>
        <p:nvSpPr>
          <p:cNvPr id="30" name="Text 28"/>
          <p:cNvSpPr txBox="1"/>
          <p:nvPr/>
        </p:nvSpPr>
        <p:spPr>
          <a:xfrm>
            <a:off x="8402117" y="5696712"/>
            <a:ext cx="2966618" cy="274320"/>
          </a:xfrm>
          <a:prstGeom prst="rect">
            <a:avLst/>
          </a:prstGeom>
          <a:noFill/>
          <a:ln/>
        </p:spPr>
        <p:txBody>
          <a:bodyPr wrap="square" lIns="0" tIns="0" rIns="0" bIns="0" rtlCol="0" anchor="ctr"/>
          <a:lstStyle/>
          <a:p>
            <a:pPr indent="0" marL="0">
              <a:buNone/>
            </a:pPr>
            <a:r>
              <a:rPr lang="en-US" sz="1100" dirty="0">
                <a:solidFill>
                  <a:srgbClr val="6E6D68"/>
                </a:solidFill>
                <a:latin typeface="Arial" pitchFamily="34" charset="0"/>
                <a:ea typeface="Arial" pitchFamily="34" charset="-122"/>
                <a:cs typeface="Arial" pitchFamily="34" charset="-120"/>
              </a:rPr>
              <a:t>Evidencia: lámina 7</a:t>
            </a:r>
            <a:endParaRPr lang="en-US" sz="1100" dirty="0"/>
          </a:p>
        </p:txBody>
      </p:sp>
      <p:sp>
        <p:nvSpPr>
          <p:cNvPr id="31" name="Text 29"/>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6E6D68"/>
                </a:solidFill>
                <a:latin typeface="Arial" pitchFamily="34" charset="0"/>
                <a:ea typeface="Arial" pitchFamily="34" charset="-122"/>
                <a:cs typeface="Arial"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3"/>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274320"/>
          </a:xfrm>
          <a:prstGeom prst="rect">
            <a:avLst/>
          </a:prstGeom>
          <a:noFill/>
          <a:ln/>
        </p:spPr>
        <p:txBody>
          <a:bodyPr wrap="square" lIns="0" tIns="0" rIns="0" bIns="0" rtlCol="0" anchor="ctr"/>
          <a:lstStyle/>
          <a:p>
            <a:pPr indent="0" marL="0">
              <a:buNone/>
            </a:pPr>
            <a:r>
              <a:rPr lang="en-US" sz="1100" b="1" spc="150" kern="0" dirty="0">
                <a:solidFill>
                  <a:srgbClr val="9EC5F4"/>
                </a:solidFill>
                <a:latin typeface="Arial" pitchFamily="34" charset="0"/>
                <a:ea typeface="Arial" pitchFamily="34" charset="-122"/>
                <a:cs typeface="Arial" pitchFamily="34" charset="-120"/>
              </a:rPr>
              <a:t>LA MAYOR DEBILIDAD DE NUESTRA SOLUCIÓN</a:t>
            </a:r>
            <a:endParaRPr lang="en-US" sz="1100" dirty="0"/>
          </a:p>
        </p:txBody>
      </p:sp>
      <p:sp>
        <p:nvSpPr>
          <p:cNvPr id="3" name="Text 1"/>
          <p:cNvSpPr txBox="1"/>
          <p:nvPr/>
        </p:nvSpPr>
        <p:spPr>
          <a:xfrm>
            <a:off x="548640" y="1097280"/>
            <a:ext cx="11094415" cy="1737360"/>
          </a:xfrm>
          <a:prstGeom prst="rect">
            <a:avLst/>
          </a:prstGeom>
          <a:noFill/>
          <a:ln/>
        </p:spPr>
        <p:txBody>
          <a:bodyPr wrap="square" lIns="0" tIns="0" rIns="0" bIns="0" rtlCol="0" anchor="t"/>
          <a:lstStyle/>
          <a:p>
            <a:pPr indent="0" marL="0">
              <a:lnSpc>
                <a:spcPct val="105000"/>
              </a:lnSpc>
              <a:buNone/>
            </a:pPr>
            <a:r>
              <a:rPr lang="en-US" sz="4400" b="1" dirty="0">
                <a:solidFill>
                  <a:srgbClr val="FFFFFF"/>
                </a:solidFill>
                <a:latin typeface="Arial" pitchFamily="34" charset="0"/>
                <a:ea typeface="Arial" pitchFamily="34" charset="-122"/>
                <a:cs typeface="Arial" pitchFamily="34" charset="-120"/>
              </a:rPr>
              <a:t>Sabemos qué se recibe bien.</a:t>
            </a:r>
            <a:endParaRPr lang="en-US" sz="4400" dirty="0"/>
          </a:p>
          <a:p>
            <a:pPr indent="0" marL="0">
              <a:lnSpc>
                <a:spcPct val="105000"/>
              </a:lnSpc>
              <a:buNone/>
            </a:pPr>
            <a:r>
              <a:rPr lang="en-US" sz="4400" b="1" dirty="0">
                <a:solidFill>
                  <a:srgbClr val="9EC5F4"/>
                </a:solidFill>
                <a:latin typeface="Arial" pitchFamily="34" charset="0"/>
                <a:ea typeface="Arial" pitchFamily="34" charset="-122"/>
                <a:cs typeface="Arial" pitchFamily="34" charset="-120"/>
              </a:rPr>
              <a:t>No sabemos qué se ve.</a:t>
            </a:r>
            <a:endParaRPr lang="en-US" sz="4400" dirty="0"/>
          </a:p>
        </p:txBody>
      </p:sp>
      <p:sp>
        <p:nvSpPr>
          <p:cNvPr id="4" name="Text 2"/>
          <p:cNvSpPr txBox="1"/>
          <p:nvPr/>
        </p:nvSpPr>
        <p:spPr>
          <a:xfrm>
            <a:off x="548640" y="3200400"/>
            <a:ext cx="9601200" cy="1463040"/>
          </a:xfrm>
          <a:prstGeom prst="rect">
            <a:avLst/>
          </a:prstGeom>
          <a:noFill/>
          <a:ln/>
        </p:spPr>
        <p:txBody>
          <a:bodyPr wrap="square" lIns="0" tIns="0" rIns="0" bIns="0" rtlCol="0" anchor="t"/>
          <a:lstStyle/>
          <a:p>
            <a:pPr indent="0" marL="0">
              <a:lnSpc>
                <a:spcPct val="120000"/>
              </a:lnSpc>
              <a:buNone/>
            </a:pPr>
            <a:r>
              <a:rPr lang="en-US" sz="1900" dirty="0">
                <a:solidFill>
                  <a:srgbClr val="D6D5CF"/>
                </a:solidFill>
                <a:latin typeface="Arial" pitchFamily="34" charset="0"/>
                <a:ea typeface="Arial" pitchFamily="34" charset="-122"/>
                <a:cs typeface="Arial" pitchFamily="34" charset="-120"/>
              </a:rPr>
              <a:t>Sin datos de consumo real, nuestras conclusiones son sobre </a:t>
            </a:r>
            <a:pPr indent="0" marL="0">
              <a:lnSpc>
                <a:spcPct val="120000"/>
              </a:lnSpc>
              <a:buNone/>
            </a:pPr>
            <a:r>
              <a:rPr lang="en-US" sz="1900" b="1" dirty="0">
                <a:solidFill>
                  <a:srgbClr val="FFFFFF"/>
                </a:solidFill>
                <a:latin typeface="Arial" pitchFamily="34" charset="0"/>
                <a:ea typeface="Arial" pitchFamily="34" charset="-122"/>
                <a:cs typeface="Arial" pitchFamily="34" charset="-120"/>
              </a:rPr>
              <a:t>composición del catálogo</a:t>
            </a:r>
            <a:pPr indent="0" marL="0">
              <a:lnSpc>
                <a:spcPct val="120000"/>
              </a:lnSpc>
              <a:buNone/>
            </a:pPr>
            <a:r>
              <a:rPr lang="en-US" sz="1900" dirty="0">
                <a:solidFill>
                  <a:srgbClr val="D6D5CF"/>
                </a:solidFill>
                <a:latin typeface="Arial" pitchFamily="34" charset="0"/>
                <a:ea typeface="Arial" pitchFamily="34" charset="-122"/>
                <a:cs typeface="Arial" pitchFamily="34" charset="-120"/>
              </a:rPr>
              <a:t>, no sobre comportamiento de audiencia. Un género puede recibir notas altas de un público pequeño y fiel y aportar poco a la retención, y estos datos no permiten distinguir ese caso.</a:t>
            </a:r>
            <a:endParaRPr lang="en-US" sz="1900" dirty="0"/>
          </a:p>
        </p:txBody>
      </p:sp>
      <p:sp>
        <p:nvSpPr>
          <p:cNvPr id="5" name="Text 3"/>
          <p:cNvSpPr txBox="1"/>
          <p:nvPr/>
        </p:nvSpPr>
        <p:spPr>
          <a:xfrm>
            <a:off x="548640" y="4800600"/>
            <a:ext cx="9601200" cy="822960"/>
          </a:xfrm>
          <a:prstGeom prst="rect">
            <a:avLst/>
          </a:prstGeom>
          <a:noFill/>
          <a:ln/>
        </p:spPr>
        <p:txBody>
          <a:bodyPr wrap="square" lIns="0" tIns="0" rIns="0" bIns="0" rtlCol="0" anchor="t"/>
          <a:lstStyle/>
          <a:p>
            <a:pPr indent="0" marL="0">
              <a:lnSpc>
                <a:spcPct val="120000"/>
              </a:lnSpc>
              <a:buNone/>
            </a:pPr>
            <a:r>
              <a:rPr lang="en-US" sz="1500" dirty="0">
                <a:solidFill>
                  <a:srgbClr val="A3A29C"/>
                </a:solidFill>
                <a:latin typeface="Arial" pitchFamily="34" charset="0"/>
                <a:ea typeface="Arial" pitchFamily="34" charset="-122"/>
                <a:cs typeface="Arial" pitchFamily="34" charset="-120"/>
              </a:rPr>
              <a:t>Con reproducciones y suscripciones se podría medir si la recepción alta se traduce en retención. Nada de eso está en estos datos, y por eso nada de eso afirmamos.</a:t>
            </a:r>
            <a:endParaRPr lang="en-US" sz="1500" dirty="0"/>
          </a:p>
        </p:txBody>
      </p:sp>
      <p:sp>
        <p:nvSpPr>
          <p:cNvPr id="6" name="Text 4"/>
          <p:cNvSpPr txBox="1"/>
          <p:nvPr/>
        </p:nvSpPr>
        <p:spPr>
          <a:xfrm>
            <a:off x="548640" y="6309360"/>
            <a:ext cx="731520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Gracias · Matías Retamal · Claudio González</a:t>
            </a:r>
            <a:endParaRPr lang="en-US" sz="1200" dirty="0"/>
          </a:p>
        </p:txBody>
      </p:sp>
      <p:sp>
        <p:nvSpPr>
          <p:cNvPr id="7" name="Text 5"/>
          <p:cNvSpPr txBox="1"/>
          <p:nvPr/>
        </p:nvSpPr>
        <p:spPr>
          <a:xfrm>
            <a:off x="10728655" y="6355080"/>
            <a:ext cx="914400" cy="274320"/>
          </a:xfrm>
          <a:prstGeom prst="rect">
            <a:avLst/>
          </a:prstGeom>
          <a:noFill/>
          <a:ln/>
        </p:spPr>
        <p:txBody>
          <a:bodyPr wrap="square" lIns="0" tIns="0" rIns="0" bIns="0" rtlCol="0" anchor="ctr"/>
          <a:lstStyle/>
          <a:p>
            <a:pPr algn="r" indent="0" marL="0">
              <a:buNone/>
            </a:pPr>
            <a:r>
              <a:rPr lang="en-US" sz="1000" dirty="0">
                <a:solidFill>
                  <a:srgbClr val="A3A29C"/>
                </a:solidFill>
                <a:latin typeface="Arial" pitchFamily="34" charset="0"/>
                <a:ea typeface="Arial" pitchFamily="34" charset="-122"/>
                <a:cs typeface="Arial"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Duoc UC · ADY1104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StreamView Analytics · Defensa</dc:title>
  <dc:subject>PptxGenJS Presentation</dc:subject>
  <dc:creator>Matías Retamal · Claudio González</dc:creator>
  <cp:lastModifiedBy>Matías Retamal · Claudio González</cp:lastModifiedBy>
  <cp:revision>1</cp:revision>
  <dcterms:created xsi:type="dcterms:W3CDTF">2026-09-24T02:53:51Z</dcterms:created>
  <dcterms:modified xsi:type="dcterms:W3CDTF">2026-09-24T02:53:51Z</dcterms:modified>
</cp:coreProperties>
</file>